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4" r:id="rId17"/>
    <p:sldId id="269" r:id="rId18"/>
    <p:sldId id="270" r:id="rId19"/>
    <p:sldId id="271" r:id="rId20"/>
    <p:sldId id="272" r:id="rId21"/>
    <p:sldId id="273" r:id="rId22"/>
  </p:sldIdLst>
  <p:sldSz cx="16256000" cy="9144000"/>
  <p:notesSz cx="9144000" cy="16256000"/>
  <p:embeddedFontLst>
    <p:embeddedFont>
      <p:font typeface="Quattrocento Sans" panose="020B0502050000020003" pitchFamily="34" charset="0"/>
      <p:regular r:id="rId27"/>
    </p:embeddedFont>
    <p:embeddedFont>
      <p:font typeface="Quattrocento Sans" panose="020B0502050000020003" pitchFamily="34" charset="-122"/>
      <p:regular r:id="rId28"/>
    </p:embeddedFont>
    <p:embeddedFont>
      <p:font typeface="Quattrocento Sans" panose="020B0502050000020003" pitchFamily="34" charset="-120"/>
      <p:regular r:id="rId29"/>
    </p:embeddedFont>
    <p:embeddedFont>
      <p:font typeface="Calibri" panose="020F0502020204030204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Borrower Risk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16.5</c:v>
                </c:pt>
                <c:pt idx="1">
                  <c:v>21.7</c:v>
                </c:pt>
                <c:pt idx="2">
                  <c:v>20.8</c:v>
                </c:pt>
                <c:pt idx="3">
                  <c:v>20.8</c:v>
                </c:pt>
                <c:pt idx="4">
                  <c:v>7.5</c:v>
                </c:pt>
                <c:pt idx="5">
                  <c:v>25.8</c:v>
                </c:pt>
                <c:pt idx="6">
                  <c:v>3.3</c:v>
                </c:pt>
                <c:pt idx="7">
                  <c:v>6.7</c:v>
                </c:pt>
                <c:pt idx="8">
                  <c:v>10</c:v>
                </c:pt>
                <c:pt idx="9">
                  <c:v>14.2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Lender Risk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  <c:pt idx="5">
                  <c:v>C6</c:v>
                </c:pt>
                <c:pt idx="6">
                  <c:v>C7</c:v>
                </c:pt>
                <c:pt idx="7">
                  <c:v>C8</c:v>
                </c:pt>
                <c:pt idx="8">
                  <c:v>C9</c:v>
                </c:pt>
                <c:pt idx="9">
                  <c:v>C10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15.8</c:v>
                </c:pt>
                <c:pt idx="1">
                  <c:v>2.5</c:v>
                </c:pt>
                <c:pt idx="2">
                  <c:v>13</c:v>
                </c:pt>
                <c:pt idx="3">
                  <c:v>21.7</c:v>
                </c:pt>
                <c:pt idx="4">
                  <c:v>6.1</c:v>
                </c:pt>
                <c:pt idx="5">
                  <c:v>8.7</c:v>
                </c:pt>
                <c:pt idx="6">
                  <c:v>14.8</c:v>
                </c:pt>
                <c:pt idx="7">
                  <c:v>0</c:v>
                </c:pt>
                <c:pt idx="8">
                  <c:v>1.7</c:v>
                </c:pt>
                <c:pt idx="9">
                  <c:v>27.8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0E0E0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Risk %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6b612d-21c4-402f-a910-f546791fa425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5440379"/>
            <a:ext cx="39624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15440379"/>
            <a:ext cx="3962400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1778000" y="2540000"/>
            <a:ext cx="12700000" cy="152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41F1E"/>
                </a:solidFill>
                <a:highlight>
                  <a:srgbClr val="F0FDF4">
                    <a:alpha val="100000"/>
                  </a:srgbClr>
                </a:highlight>
                <a:latin typeface="Arial, sans-serif" pitchFamily="34" charset="0"/>
                <a:ea typeface="Arial, sans-serif" pitchFamily="34" charset="-122"/>
                <a:cs typeface="Arial, sans-serif" pitchFamily="34" charset="-120"/>
              </a:rPr>
              <a:t>Explainable Loan Agreement Intelligence for Clause-Level Risk Scoring and Fairness Assessment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048000" y="4318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2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Conference 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048000" y="5334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[Author name and affiliation to be filled]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3000" y="6350000"/>
            <a:ext cx="3810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7" name="Shape 5"/>
          <p:cNvSpPr/>
          <p:nvPr/>
        </p:nvSpPr>
        <p:spPr>
          <a:xfrm>
            <a:off x="1016000" y="6096000"/>
            <a:ext cx="1524000" cy="1524000"/>
          </a:xfrm>
          <a:prstGeom prst="ellipse">
            <a:avLst/>
          </a:prstGeom>
          <a:solidFill>
            <a:srgbClr val="1B3A5C">
              <a:alpha val="6275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13716000" y="6604000"/>
            <a:ext cx="2032000" cy="2032000"/>
          </a:xfrm>
          <a:prstGeom prst="ellipse">
            <a:avLst/>
          </a:prstGeom>
          <a:solidFill>
            <a:srgbClr val="1B3A5C">
              <a:alpha val="3137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62000" y="7112000"/>
            <a:ext cx="1016000" cy="0"/>
          </a:xfrm>
          <a:prstGeom prst="straightConnector1">
            <a:avLst/>
          </a:prstGeom>
          <a:noFill/>
          <a:ln w="25400">
            <a:solidFill>
              <a:srgbClr val="1B3A5C">
                <a:alpha val="18824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333500"/>
            <a:ext cx="1270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4" name="Shape 2"/>
          <p:cNvSpPr/>
          <p:nvPr/>
        </p:nvSpPr>
        <p:spPr>
          <a:xfrm>
            <a:off x="762000" y="1905000"/>
            <a:ext cx="4572000" cy="2794000"/>
          </a:xfrm>
          <a:prstGeom prst="rect">
            <a:avLst/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16000" y="2095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6000" y="2794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</a:t>
            </a:r>
            <a:r>
              <a:rPr lang="en-US" sz="18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&amp; Background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6195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statement, motivation, and research 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42000" y="1905000"/>
            <a:ext cx="4572000" cy="2794000"/>
          </a:xfrm>
          <a:prstGeom prst="rect">
            <a:avLst/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96000" y="2095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0" y="2794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36195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Contract intelligence, XAI, and fairness in finance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922000" y="1905000"/>
            <a:ext cx="4572000" cy="2794000"/>
          </a:xfrm>
          <a:prstGeom prst="rect">
            <a:avLst/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176000" y="2095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176000" y="2794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Proposed 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36195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architecture, dual-risk model, and outputs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02000" y="5080000"/>
            <a:ext cx="4572000" cy="2794000"/>
          </a:xfrm>
          <a:prstGeom prst="rect">
            <a:avLst/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56000" y="5270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56000" y="5969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Experimentation</a:t>
            </a:r>
            <a:r>
              <a:rPr lang="en-US" sz="18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&amp;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56000" y="67945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Experimental validation and findings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82000" y="5080000"/>
            <a:ext cx="4572000" cy="2794000"/>
          </a:xfrm>
          <a:prstGeom prst="rect">
            <a:avLst/>
          </a:prstGeom>
          <a:solidFill>
            <a:srgbClr val="FFFFFF"/>
          </a:solidFill>
          <a:effectLst>
            <a:outerShdw blurRad="101600" dist="25400" dir="5400000" algn="bl" rotWithShape="0">
              <a:srgbClr val="000000">
                <a:alpha val="6275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36000" y="5270500"/>
            <a:ext cx="1016000" cy="635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59690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36000" y="67945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Summary, contributions, and future directions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5080000" cy="215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235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318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Introduction &amp; Background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334000"/>
            <a:ext cx="1016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Problem context, motivation, and research objectives for fairness assessment in loan agreements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Shape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Text 9"/>
          <p:cNvSpPr/>
          <p:nvPr/>
        </p:nvSpPr>
        <p:spPr>
          <a:xfrm>
            <a:off x="762000" y="1460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Context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1905000"/>
            <a:ext cx="6858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lending platforms, embedded finance, and automated financial services have made loan agreements more complex than ever.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Loan agreements are legally binding documents covering repayment terms, interest rates, security obligations, enforcement protocols, and penalties.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1460500"/>
            <a:ext cx="7366000" cy="304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8382000" y="1587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Challenges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82000" y="2032000"/>
            <a:ext cx="6858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Manual review is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time-consuming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costly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Requires specialized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legal expertise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Growing volume of digital contracts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Need for consistency, transparency, and efficiency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915535"/>
            <a:ext cx="14732000" cy="1747520"/>
          </a:xfrm>
          <a:prstGeom prst="rect">
            <a:avLst/>
          </a:prstGeom>
          <a:solidFill>
            <a:srgbClr val="1B3A5C">
              <a:alpha val="3137"/>
            </a:srgbClr>
          </a:solidFill>
          <a:ln w="12700">
            <a:solidFill>
              <a:srgbClr val="1B3A5C">
                <a:alpha val="12549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" y="501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45309"/>
          </a:solidFill>
        </p:spPr>
      </p:sp>
      <p:sp>
        <p:nvSpPr>
          <p:cNvPr id="18" name="Text 16"/>
          <p:cNvSpPr/>
          <p:nvPr/>
        </p:nvSpPr>
        <p:spPr>
          <a:xfrm>
            <a:off x="1587500" y="4953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Critical Gap Identified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79500" y="5461000"/>
            <a:ext cx="14097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contract intelligence systems focus on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clause extraction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 summarization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identification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but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ignore the fairness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contract between lender and borrower. An imbalanced agreement may still be legally enforceable while heavily favouring one party.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000" y="6731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Need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62000" y="7239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new framework for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automated loan agreement analysis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contractual balance evaluation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Artificial Intelligence — assessing both </a:t>
            </a:r>
            <a:r>
              <a:rPr lang="en-US" sz="1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lender exposure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18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borrower exposure</a:t>
            </a: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independently at the clause level.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Shape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Gap &amp; Objectives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Text 9"/>
          <p:cNvSpPr/>
          <p:nvPr/>
        </p:nvSpPr>
        <p:spPr>
          <a:xfrm>
            <a:off x="762000" y="1460500"/>
            <a:ext cx="685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Existing System Capabilities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1968500"/>
            <a:ext cx="457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1066800" y="2222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64748B"/>
          </a:solidFill>
        </p:spPr>
      </p:sp>
      <p:sp>
        <p:nvSpPr>
          <p:cNvPr id="14" name="Text 12"/>
          <p:cNvSpPr/>
          <p:nvPr/>
        </p:nvSpPr>
        <p:spPr>
          <a:xfrm>
            <a:off x="1587500" y="209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Clause Extraction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Identify contractual provisions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588000" y="1968500"/>
            <a:ext cx="457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5892800" y="2222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69850" y="50800"/>
                </a:moveTo>
                <a:cubicBezTo>
                  <a:pt x="59293" y="50800"/>
                  <a:pt x="50800" y="59293"/>
                  <a:pt x="50800" y="69850"/>
                </a:cubicBezTo>
                <a:cubicBezTo>
                  <a:pt x="50800" y="80407"/>
                  <a:pt x="59293" y="88900"/>
                  <a:pt x="69850" y="88900"/>
                </a:cubicBezTo>
                <a:lnTo>
                  <a:pt x="107950" y="88900"/>
                </a:lnTo>
                <a:cubicBezTo>
                  <a:pt x="118507" y="88900"/>
                  <a:pt x="127000" y="80407"/>
                  <a:pt x="127000" y="69850"/>
                </a:cubicBezTo>
                <a:cubicBezTo>
                  <a:pt x="127000" y="59293"/>
                  <a:pt x="118507" y="50800"/>
                  <a:pt x="107950" y="50800"/>
                </a:cubicBezTo>
                <a:lnTo>
                  <a:pt x="69850" y="50800"/>
                </a:lnTo>
                <a:close/>
                <a:moveTo>
                  <a:pt x="69850" y="127000"/>
                </a:moveTo>
                <a:cubicBezTo>
                  <a:pt x="59293" y="127000"/>
                  <a:pt x="50800" y="135493"/>
                  <a:pt x="50800" y="146050"/>
                </a:cubicBezTo>
                <a:cubicBezTo>
                  <a:pt x="50800" y="156607"/>
                  <a:pt x="59293" y="165100"/>
                  <a:pt x="69850" y="165100"/>
                </a:cubicBezTo>
                <a:lnTo>
                  <a:pt x="107950" y="165100"/>
                </a:lnTo>
                <a:cubicBezTo>
                  <a:pt x="118507" y="165100"/>
                  <a:pt x="127000" y="156607"/>
                  <a:pt x="127000" y="146050"/>
                </a:cubicBezTo>
                <a:cubicBezTo>
                  <a:pt x="127000" y="135493"/>
                  <a:pt x="118507" y="127000"/>
                  <a:pt x="107950" y="127000"/>
                </a:cubicBezTo>
                <a:lnTo>
                  <a:pt x="69850" y="127000"/>
                </a:lnTo>
                <a:close/>
                <a:moveTo>
                  <a:pt x="125651" y="254000"/>
                </a:moveTo>
                <a:cubicBezTo>
                  <a:pt x="116681" y="254000"/>
                  <a:pt x="108268" y="258048"/>
                  <a:pt x="102711" y="265033"/>
                </a:cubicBezTo>
                <a:lnTo>
                  <a:pt x="55007" y="324644"/>
                </a:lnTo>
                <a:cubicBezTo>
                  <a:pt x="48419" y="332819"/>
                  <a:pt x="49768" y="344884"/>
                  <a:pt x="57944" y="351393"/>
                </a:cubicBezTo>
                <a:cubicBezTo>
                  <a:pt x="66119" y="357902"/>
                  <a:pt x="78184" y="356632"/>
                  <a:pt x="84693" y="348377"/>
                </a:cubicBezTo>
                <a:lnTo>
                  <a:pt x="122079" y="301704"/>
                </a:lnTo>
                <a:lnTo>
                  <a:pt x="134144" y="341947"/>
                </a:lnTo>
                <a:cubicBezTo>
                  <a:pt x="136525" y="350044"/>
                  <a:pt x="143986" y="355521"/>
                  <a:pt x="152400" y="355521"/>
                </a:cubicBezTo>
                <a:lnTo>
                  <a:pt x="234950" y="355521"/>
                </a:lnTo>
                <a:cubicBezTo>
                  <a:pt x="245507" y="355521"/>
                  <a:pt x="254000" y="347028"/>
                  <a:pt x="254000" y="336471"/>
                </a:cubicBezTo>
                <a:cubicBezTo>
                  <a:pt x="254000" y="325914"/>
                  <a:pt x="245507" y="317421"/>
                  <a:pt x="234950" y="317421"/>
                </a:cubicBezTo>
                <a:lnTo>
                  <a:pt x="166608" y="317421"/>
                </a:lnTo>
                <a:lnTo>
                  <a:pt x="153829" y="274876"/>
                </a:lnTo>
                <a:cubicBezTo>
                  <a:pt x="150098" y="262414"/>
                  <a:pt x="138668" y="253921"/>
                  <a:pt x="125651" y="253921"/>
                </a:cubicBezTo>
                <a:close/>
              </a:path>
            </a:pathLst>
          </a:custGeom>
          <a:solidFill>
            <a:srgbClr val="64748B"/>
          </a:solidFill>
        </p:spPr>
      </p:sp>
      <p:sp>
        <p:nvSpPr>
          <p:cNvPr id="17" name="Text 15"/>
          <p:cNvSpPr/>
          <p:nvPr/>
        </p:nvSpPr>
        <p:spPr>
          <a:xfrm>
            <a:off x="6413500" y="209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 Summarization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Condense agreement content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14000" y="1968500"/>
            <a:ext cx="5080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10668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64748B"/>
          </a:solidFill>
        </p:spPr>
      </p:sp>
      <p:sp>
        <p:nvSpPr>
          <p:cNvPr id="20" name="Text 18"/>
          <p:cNvSpPr/>
          <p:nvPr/>
        </p:nvSpPr>
        <p:spPr>
          <a:xfrm>
            <a:off x="11239500" y="2095500"/>
            <a:ext cx="406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Identification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Detect potential risks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 rot="10800000">
            <a:off x="7620000" y="3111500"/>
            <a:ext cx="1016000" cy="508000"/>
          </a:xfrm>
          <a:prstGeom prst="triangle">
            <a:avLst>
              <a:gd name="adj" fmla="val 50000"/>
            </a:avLst>
          </a:prstGeom>
          <a:solidFill>
            <a:srgbClr val="B45309"/>
          </a:solidFill>
        </p:spPr>
      </p:sp>
      <p:sp>
        <p:nvSpPr>
          <p:cNvPr id="22" name="Text 20"/>
          <p:cNvSpPr/>
          <p:nvPr/>
        </p:nvSpPr>
        <p:spPr>
          <a:xfrm>
            <a:off x="762000" y="3238500"/>
            <a:ext cx="685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Missing?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62000" y="3746500"/>
            <a:ext cx="14732000" cy="1968500"/>
          </a:xfrm>
          <a:prstGeom prst="rect">
            <a:avLst/>
          </a:prstGeom>
          <a:solidFill>
            <a:srgbClr val="B45309">
              <a:alpha val="6275"/>
            </a:srgbClr>
          </a:solidFill>
          <a:ln w="12700">
            <a:solidFill>
              <a:srgbClr val="B45309">
                <a:alpha val="18824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9500" y="3873500"/>
            <a:ext cx="14097000" cy="177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assessment of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contractual fairness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between lender and borrower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dual-risk comparison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lender exposure vs. borrower exposure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multi-file agreement comparison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capability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fairness-based recommendations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contract improvement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2000" y="5778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6286500"/>
            <a:ext cx="711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952500" y="6350000"/>
            <a:ext cx="63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51000" y="6413500"/>
            <a:ext cx="603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Propose an AI-based framework for automated fairness assessment of loan agreements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82000" y="6286500"/>
            <a:ext cx="711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8572500" y="6350000"/>
            <a:ext cx="63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71000" y="6413500"/>
            <a:ext cx="603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Enable dual-risk analysis of lender and borrower exposure at the clause level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62000" y="7493000"/>
            <a:ext cx="711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952500" y="7556500"/>
            <a:ext cx="63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651000" y="7620000"/>
            <a:ext cx="603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Provide explainable interpretations, visualizations, and fairness recommendations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82000" y="7493000"/>
            <a:ext cx="711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8572500" y="7556500"/>
            <a:ext cx="635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71000" y="7620000"/>
            <a:ext cx="603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 multi-file comparative analysis for cross-agreement fairness evaluation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5080000" cy="215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235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318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334000"/>
            <a:ext cx="1016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Current advances in contract intelligence, explainable AI, and fairness in financial systems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in Contract Intelligence &amp; Financial Systems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71120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971550" y="1651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13" name="Text 11"/>
          <p:cNvSpPr/>
          <p:nvPr/>
        </p:nvSpPr>
        <p:spPr>
          <a:xfrm>
            <a:off x="1498600" y="15875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&amp; NLP in Legal Documents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16000" y="2095500"/>
            <a:ext cx="660400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and NLP revolutionizing legal document intelligence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Automated clause extraction and contractual term identification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effective in identifying financial and legal risks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Decreased reliance on manual review processes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Focus on risk ID, not fairness assessment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1460500"/>
            <a:ext cx="71120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8636000" y="165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17" name="Text 15"/>
          <p:cNvSpPr/>
          <p:nvPr/>
        </p:nvSpPr>
        <p:spPr>
          <a:xfrm>
            <a:off x="9118600" y="15875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AI (XAI)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36000" y="2095500"/>
            <a:ext cx="660400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Explainability pivotal for AI-driven financial decisions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Makes reasoning process transparent to enhance trust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SHAP, LIME, and attention mechanisms for interpretation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EU regulations demand algorithmic decision transparency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Need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Explainable fairness assessment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62000" y="5016500"/>
            <a:ext cx="7112000" cy="3302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971550" y="5207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66700" y="22225"/>
                </a:moveTo>
                <a:lnTo>
                  <a:pt x="355600" y="22225"/>
                </a:lnTo>
                <a:cubicBezTo>
                  <a:pt x="367893" y="22225"/>
                  <a:pt x="377825" y="32157"/>
                  <a:pt x="377825" y="44450"/>
                </a:cubicBezTo>
                <a:cubicBezTo>
                  <a:pt x="377825" y="56743"/>
                  <a:pt x="367893" y="66675"/>
                  <a:pt x="355600" y="66675"/>
                </a:cubicBezTo>
                <a:lnTo>
                  <a:pt x="276701" y="66675"/>
                </a:lnTo>
                <a:cubicBezTo>
                  <a:pt x="273090" y="84594"/>
                  <a:pt x="260796" y="99387"/>
                  <a:pt x="244475" y="106472"/>
                </a:cubicBezTo>
                <a:lnTo>
                  <a:pt x="244475" y="311150"/>
                </a:lnTo>
                <a:lnTo>
                  <a:pt x="355600" y="311150"/>
                </a:lnTo>
                <a:cubicBezTo>
                  <a:pt x="367893" y="311150"/>
                  <a:pt x="377825" y="321082"/>
                  <a:pt x="377825" y="333375"/>
                </a:cubicBezTo>
                <a:cubicBezTo>
                  <a:pt x="377825" y="345668"/>
                  <a:pt x="367893" y="355600"/>
                  <a:pt x="355600" y="355600"/>
                </a:cubicBezTo>
                <a:lnTo>
                  <a:pt x="88900" y="355600"/>
                </a:lnTo>
                <a:cubicBezTo>
                  <a:pt x="76607" y="355600"/>
                  <a:pt x="66675" y="345668"/>
                  <a:pt x="66675" y="333375"/>
                </a:cubicBezTo>
                <a:cubicBezTo>
                  <a:pt x="66675" y="321082"/>
                  <a:pt x="76607" y="311150"/>
                  <a:pt x="88900" y="311150"/>
                </a:cubicBezTo>
                <a:lnTo>
                  <a:pt x="200025" y="311150"/>
                </a:lnTo>
                <a:lnTo>
                  <a:pt x="200025" y="106472"/>
                </a:lnTo>
                <a:cubicBezTo>
                  <a:pt x="183704" y="99318"/>
                  <a:pt x="171410" y="84524"/>
                  <a:pt x="167799" y="66675"/>
                </a:cubicBezTo>
                <a:lnTo>
                  <a:pt x="88900" y="66675"/>
                </a:lnTo>
                <a:cubicBezTo>
                  <a:pt x="76607" y="66675"/>
                  <a:pt x="66675" y="56743"/>
                  <a:pt x="66675" y="44450"/>
                </a:cubicBezTo>
                <a:cubicBezTo>
                  <a:pt x="66675" y="32157"/>
                  <a:pt x="76607" y="22225"/>
                  <a:pt x="88900" y="22225"/>
                </a:cubicBezTo>
                <a:lnTo>
                  <a:pt x="177800" y="22225"/>
                </a:lnTo>
                <a:cubicBezTo>
                  <a:pt x="187940" y="8751"/>
                  <a:pt x="204053" y="0"/>
                  <a:pt x="222250" y="0"/>
                </a:cubicBezTo>
                <a:cubicBezTo>
                  <a:pt x="240447" y="0"/>
                  <a:pt x="256560" y="8751"/>
                  <a:pt x="266700" y="22225"/>
                </a:cubicBezTo>
                <a:close/>
                <a:moveTo>
                  <a:pt x="305316" y="222250"/>
                </a:moveTo>
                <a:lnTo>
                  <a:pt x="405884" y="222250"/>
                </a:lnTo>
                <a:lnTo>
                  <a:pt x="355600" y="135989"/>
                </a:lnTo>
                <a:lnTo>
                  <a:pt x="305316" y="222250"/>
                </a:lnTo>
                <a:close/>
                <a:moveTo>
                  <a:pt x="355600" y="288925"/>
                </a:moveTo>
                <a:cubicBezTo>
                  <a:pt x="311914" y="288925"/>
                  <a:pt x="275590" y="265311"/>
                  <a:pt x="268089" y="234126"/>
                </a:cubicBezTo>
                <a:cubicBezTo>
                  <a:pt x="266283" y="226487"/>
                  <a:pt x="268784" y="218638"/>
                  <a:pt x="272742" y="211832"/>
                </a:cubicBezTo>
                <a:lnTo>
                  <a:pt x="338862" y="98485"/>
                </a:lnTo>
                <a:cubicBezTo>
                  <a:pt x="342334" y="92512"/>
                  <a:pt x="348724" y="88900"/>
                  <a:pt x="355600" y="88900"/>
                </a:cubicBezTo>
                <a:cubicBezTo>
                  <a:pt x="362476" y="88900"/>
                  <a:pt x="368866" y="92581"/>
                  <a:pt x="372338" y="98485"/>
                </a:cubicBezTo>
                <a:lnTo>
                  <a:pt x="438458" y="211832"/>
                </a:lnTo>
                <a:cubicBezTo>
                  <a:pt x="442416" y="218638"/>
                  <a:pt x="444917" y="226487"/>
                  <a:pt x="443111" y="234126"/>
                </a:cubicBezTo>
                <a:cubicBezTo>
                  <a:pt x="435610" y="265241"/>
                  <a:pt x="399286" y="288925"/>
                  <a:pt x="355600" y="288925"/>
                </a:cubicBezTo>
                <a:close/>
                <a:moveTo>
                  <a:pt x="88067" y="135989"/>
                </a:moveTo>
                <a:lnTo>
                  <a:pt x="37783" y="222250"/>
                </a:lnTo>
                <a:lnTo>
                  <a:pt x="138420" y="222250"/>
                </a:lnTo>
                <a:lnTo>
                  <a:pt x="88067" y="135989"/>
                </a:lnTo>
                <a:close/>
                <a:moveTo>
                  <a:pt x="625" y="234126"/>
                </a:moveTo>
                <a:cubicBezTo>
                  <a:pt x="-1181" y="226487"/>
                  <a:pt x="1320" y="218638"/>
                  <a:pt x="5278" y="211832"/>
                </a:cubicBezTo>
                <a:lnTo>
                  <a:pt x="71398" y="98485"/>
                </a:lnTo>
                <a:cubicBezTo>
                  <a:pt x="74870" y="92512"/>
                  <a:pt x="81260" y="88900"/>
                  <a:pt x="88136" y="88900"/>
                </a:cubicBezTo>
                <a:cubicBezTo>
                  <a:pt x="95012" y="88900"/>
                  <a:pt x="101402" y="92581"/>
                  <a:pt x="104874" y="98485"/>
                </a:cubicBezTo>
                <a:lnTo>
                  <a:pt x="170994" y="211832"/>
                </a:lnTo>
                <a:cubicBezTo>
                  <a:pt x="174952" y="218638"/>
                  <a:pt x="177453" y="226487"/>
                  <a:pt x="175647" y="234126"/>
                </a:cubicBezTo>
                <a:cubicBezTo>
                  <a:pt x="168146" y="265241"/>
                  <a:pt x="131822" y="288925"/>
                  <a:pt x="88136" y="288925"/>
                </a:cubicBezTo>
                <a:cubicBezTo>
                  <a:pt x="44450" y="288925"/>
                  <a:pt x="8126" y="265311"/>
                  <a:pt x="625" y="234126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21" name="Text 19"/>
          <p:cNvSpPr/>
          <p:nvPr/>
        </p:nvSpPr>
        <p:spPr>
          <a:xfrm>
            <a:off x="1498600" y="51435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Fairness in Financial 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16000" y="5651500"/>
            <a:ext cx="6604000" cy="247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Fairness-centric AI reduces bias in lending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Need for transparent, interpretable, and fair systems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Intelligent Finance and RegTech emerging fields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Agent-based systems for compliance monitoring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Gap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No integrated fairness + dual-risk framework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5016500"/>
            <a:ext cx="7112000" cy="3429000"/>
          </a:xfrm>
          <a:prstGeom prst="rect">
            <a:avLst/>
          </a:prstGeom>
          <a:solidFill>
            <a:srgbClr val="1B3A5C">
              <a:alpha val="6275"/>
            </a:srgbClr>
          </a:solidFill>
          <a:ln w="12700">
            <a:solidFill>
              <a:srgbClr val="1B3A5C">
                <a:alpha val="18824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36000" y="520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B45309"/>
          </a:solidFill>
        </p:spPr>
      </p:sp>
      <p:sp>
        <p:nvSpPr>
          <p:cNvPr id="25" name="Text 23"/>
          <p:cNvSpPr/>
          <p:nvPr/>
        </p:nvSpPr>
        <p:spPr>
          <a:xfrm>
            <a:off x="9118600" y="51435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Identified Research Gap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636000" y="5651500"/>
            <a:ext cx="6604000" cy="279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existing approaches focus on </a:t>
            </a: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one aspect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Clause extraction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 summarization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Risk identification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Explainability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system integrates fairness assessment with dual-risk evaluation of loan agreements.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5080000" cy="215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235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318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Proposed Framework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334000"/>
            <a:ext cx="1016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System architecture, dual-risk assessment model, and output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Architecture &amp; Workflow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4572000" cy="1143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2" name="Text 10"/>
          <p:cNvSpPr/>
          <p:nvPr/>
        </p:nvSpPr>
        <p:spPr>
          <a:xfrm>
            <a:off x="889000" y="1524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1524000"/>
            <a:ext cx="3683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Document Ingestion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" y="1968500"/>
            <a:ext cx="42545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Text extraction from loan agreements: repayment, interest, collateral, default, enforcement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0" y="1841500"/>
            <a:ext cx="381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16" name="Shape 14"/>
          <p:cNvSpPr/>
          <p:nvPr/>
        </p:nvSpPr>
        <p:spPr>
          <a:xfrm>
            <a:off x="5842000" y="1460500"/>
            <a:ext cx="4572000" cy="1143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7" name="Text 15"/>
          <p:cNvSpPr/>
          <p:nvPr/>
        </p:nvSpPr>
        <p:spPr>
          <a:xfrm>
            <a:off x="5969000" y="1524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0500" y="1524000"/>
            <a:ext cx="3683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Clause Identification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69000" y="1968500"/>
            <a:ext cx="42545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Classify clauses as lender-related or borrower-related based on risk association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14000" y="1841500"/>
            <a:ext cx="381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21" name="Shape 19"/>
          <p:cNvSpPr/>
          <p:nvPr/>
        </p:nvSpPr>
        <p:spPr>
          <a:xfrm>
            <a:off x="10922000" y="1460500"/>
            <a:ext cx="4572000" cy="1143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2" name="Text 20"/>
          <p:cNvSpPr/>
          <p:nvPr/>
        </p:nvSpPr>
        <p:spPr>
          <a:xfrm>
            <a:off x="11049000" y="1524000"/>
            <a:ext cx="50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20500" y="1524000"/>
            <a:ext cx="3683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 Scoring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1968500"/>
            <a:ext cx="42545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Rule-based scoring: rate each clause's impact on lender and borrower exposure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2857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Clause Classification Details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3365500"/>
            <a:ext cx="7112000" cy="254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1016000" y="3492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Lender-Related Clauses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3937000"/>
            <a:ext cx="6604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Assignment rights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transfer of loan rights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Enforcement provisions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legal recourse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Repayment clauses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payment schedules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Collateral provisions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security assets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Legal protections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lender safeguards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82000" y="3365500"/>
            <a:ext cx="7112000" cy="254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8636000" y="3492500"/>
            <a:ext cx="381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Borrower-Related Clauses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6000" y="3937000"/>
            <a:ext cx="6604000" cy="196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Interest burden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rate obligations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Penalties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late/default fees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provisions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breach terms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Acceleration clauses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early demand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Asset exposure &amp; legal disadvantage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62000" y="6159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Processing Modes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762000" y="6667500"/>
            <a:ext cx="711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1066800" y="6921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50800" y="0"/>
                </a:moveTo>
                <a:cubicBezTo>
                  <a:pt x="22781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54000" y="406400"/>
                </a:lnTo>
                <a:cubicBezTo>
                  <a:pt x="282019" y="406400"/>
                  <a:pt x="304800" y="383619"/>
                  <a:pt x="304800" y="355600"/>
                </a:cubicBezTo>
                <a:lnTo>
                  <a:pt x="304800" y="135334"/>
                </a:lnTo>
                <a:cubicBezTo>
                  <a:pt x="304800" y="121841"/>
                  <a:pt x="299482" y="108903"/>
                  <a:pt x="289957" y="99378"/>
                </a:cubicBezTo>
                <a:lnTo>
                  <a:pt x="205343" y="14843"/>
                </a:lnTo>
                <a:cubicBezTo>
                  <a:pt x="195818" y="5318"/>
                  <a:pt x="182959" y="0"/>
                  <a:pt x="169466" y="0"/>
                </a:cubicBezTo>
                <a:lnTo>
                  <a:pt x="50800" y="0"/>
                </a:lnTo>
                <a:close/>
                <a:moveTo>
                  <a:pt x="258366" y="139700"/>
                </a:moveTo>
                <a:lnTo>
                  <a:pt x="184150" y="139700"/>
                </a:lnTo>
                <a:cubicBezTo>
                  <a:pt x="173593" y="139700"/>
                  <a:pt x="165100" y="131207"/>
                  <a:pt x="165100" y="120650"/>
                </a:cubicBezTo>
                <a:lnTo>
                  <a:pt x="165100" y="46434"/>
                </a:lnTo>
                <a:lnTo>
                  <a:pt x="258366" y="139700"/>
                </a:lnTo>
                <a:close/>
              </a:path>
            </a:pathLst>
          </a:custGeom>
          <a:solidFill>
            <a:srgbClr val="1B3A5C"/>
          </a:solidFill>
        </p:spPr>
      </p:sp>
      <p:sp>
        <p:nvSpPr>
          <p:cNvPr id="35" name="Text 33"/>
          <p:cNvSpPr/>
          <p:nvPr/>
        </p:nvSpPr>
        <p:spPr>
          <a:xfrm>
            <a:off x="1587500" y="6794500"/>
            <a:ext cx="603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Single-File Mode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Process one agreement at a time — lender risk, borrower risk, balance, recommendations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8382000" y="6667500"/>
            <a:ext cx="7112000" cy="101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7" name="Shape 35"/>
          <p:cNvSpPr/>
          <p:nvPr/>
        </p:nvSpPr>
        <p:spPr>
          <a:xfrm>
            <a:off x="8636000" y="692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1B3A5C"/>
          </a:solidFill>
        </p:spPr>
      </p:sp>
      <p:sp>
        <p:nvSpPr>
          <p:cNvPr id="38" name="Text 36"/>
          <p:cNvSpPr/>
          <p:nvPr/>
        </p:nvSpPr>
        <p:spPr>
          <a:xfrm>
            <a:off x="9207500" y="6794500"/>
            <a:ext cx="6032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Multi-File Mode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Compare multiple agreements — cross-agreement fairness and risk distribution analysis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Dual-Risk Assessment Model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14732000" cy="177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1016000" y="15494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Risk Formulas</a:t>
            </a:r>
            <a:endParaRPr lang="en-US" sz="2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1016000" y="2006600"/>
                <a:ext cx="68580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charset="0"/>
                        </a:rPr>
                        <m:t>𝐿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𝑒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𝑛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𝑑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𝑒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𝑅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𝑖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𝑠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dirty="0">
                                  <a:latin typeface="Cambria Math" panose="02040503050406030204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sz="800" dirty="0">
                                  <a:latin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sz="800" dirty="0">
                                  <a:latin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𝑚</m:t>
                              </m:r>
                            </m:sup>
                          </m:sSubSup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𝑜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𝑎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sz="1600" dirty="0">
                          <a:latin typeface="Cambria Math" panose="02040503050406030204" charset="0"/>
                        </a:rPr>
                        <m:t>×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100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006600"/>
                <a:ext cx="6858000" cy="5080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8382000" y="2006600"/>
                <a:ext cx="6858000" cy="508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charset="0"/>
                        </a:rPr>
                        <m:t>𝐵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𝑜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𝑟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𝑟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𝑜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𝑤</m:t>
                      </m:r>
                      <m:r>
                        <a:rPr lang="en-US" sz="1600" i="1" dirty="0">
                          <a:latin typeface="Cambria Math" panose="02040503050406030204" charset="0"/>
                        </a:rPr>
                        <m:t>𝑒</m:t>
                      </m:r>
                      <m:sSub>
                        <m:sSubPr>
                          <m:ctrlPr>
                            <a:rPr lang="en-US" sz="1100" dirty="0"/>
                          </m:ctrlPr>
                        </m:sSubPr>
                        <m:e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𝑟</m:t>
                          </m:r>
                        </m:e>
                        <m:sub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𝑅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𝑖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𝑠</m:t>
                          </m:r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𝑘</m:t>
                          </m:r>
                        </m:sub>
                      </m:sSub>
                      <m:r>
                        <a:rPr lang="en-US" sz="1600" dirty="0">
                          <a:latin typeface="Cambria Math" panose="02040503050406030204" charset="0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800" dirty="0"/>
                              </m:ctrlPr>
                            </m:sSubSupPr>
                            <m:e>
                              <m:r>
                                <a:rPr lang="en-US" sz="800" dirty="0">
                                  <a:latin typeface="Cambria Math" panose="02040503050406030204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𝑖</m:t>
                              </m:r>
                              <m:r>
                                <a:rPr lang="en-US" sz="800" dirty="0">
                                  <a:latin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sz="800" dirty="0">
                                  <a:latin typeface="Cambria Math" panose="02040503050406030204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1100" i="1" dirty="0">
                              <a:latin typeface="Cambria Math" panose="02040503050406030204" charset="0"/>
                            </a:rPr>
                            <m:t>𝐵</m:t>
                          </m:r>
                          <m:sSub>
                            <m:sSubPr>
                              <m:ctrlPr>
                                <a:rPr lang="en-US" sz="800" dirty="0"/>
                              </m:ctrlPr>
                            </m:sSubPr>
                            <m:e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𝑜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𝑎</m:t>
                              </m:r>
                              <m:r>
                                <a:rPr lang="en-US" sz="800" i="1" dirty="0">
                                  <a:latin typeface="Cambria Math" panose="02040503050406030204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sz="1600" dirty="0">
                          <a:latin typeface="Cambria Math" panose="02040503050406030204" charset="0"/>
                        </a:rPr>
                        <m:t>×</m:t>
                      </m:r>
                      <m:r>
                        <a:rPr lang="en-US" sz="1600" dirty="0">
                          <a:latin typeface="Cambria Math" panose="02040503050406030204" charset="0"/>
                        </a:rPr>
                        <m:t>100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0" y="2006600"/>
                <a:ext cx="6858000" cy="508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1016000" y="2603500"/>
            <a:ext cx="14224000" cy="50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LR</a:t>
            </a:r>
            <a:r>
              <a:rPr lang="en-US" sz="1400" baseline="-400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</a:t>
            </a: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= Risk score of lender-related clause i | BR</a:t>
            </a:r>
            <a:r>
              <a:rPr lang="en-US" sz="1400" baseline="-400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</a:t>
            </a: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= Risk score of borrower-related clause i | LR</a:t>
            </a:r>
            <a:r>
              <a:rPr lang="en-US" sz="1400" baseline="-400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</a:t>
            </a: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/ BR</a:t>
            </a:r>
            <a:r>
              <a:rPr lang="en-US" sz="1400" baseline="-400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total</a:t>
            </a: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= Total risk scores | m, k = Number of clauses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492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Rule-Based Risk Scoring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62000" y="4000500"/>
            <a:ext cx="7112000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1016000" y="40894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 Risk Assessment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4508500"/>
            <a:ext cx="6604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Evaluates how clauses affect </a:t>
            </a: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lender protection</a:t>
            </a: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Reduction in repayment certainty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Collateral enforceability risk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Legal security exposure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Assignment rights limitations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4000500"/>
            <a:ext cx="7112000" cy="266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8636000" y="40894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Borrower Risk Assessment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36000" y="4508500"/>
            <a:ext cx="6604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Evaluates how clauses burden the </a:t>
            </a: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borrower</a:t>
            </a: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Financial exposure and burden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Asset risk from default terms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Legal disadvantage provisions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Interest and penalty obligations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2000" y="6921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Normalized Risk Aggregation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62000" y="74295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Clause-level scores are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summed and normalized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produce lender and borrower risk percentages. The system then compares these values to determine contractual balance — identifying whether the agreement is balanced, lender-favourable, or borrower-favourable.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" name="Text 4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270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Contractual Balance Evaluation &amp; Outputs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Text 9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Balance Classification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1968500"/>
            <a:ext cx="4572000" cy="1905000"/>
          </a:xfrm>
          <a:prstGeom prst="rect">
            <a:avLst/>
          </a:prstGeom>
          <a:solidFill>
            <a:srgbClr val="0F766E">
              <a:alpha val="8235"/>
            </a:srgbClr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F766E"/>
          </a:solidFill>
        </p:spPr>
      </p:sp>
      <p:sp>
        <p:nvSpPr>
          <p:cNvPr id="14" name="Text 12"/>
          <p:cNvSpPr/>
          <p:nvPr/>
        </p:nvSpPr>
        <p:spPr>
          <a:xfrm>
            <a:off x="1498600" y="21209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F766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2603500"/>
            <a:ext cx="406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 and borrower risks are similar. Contractual terms and protections are evenly spread.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42000" y="1968500"/>
            <a:ext cx="4572000" cy="1905000"/>
          </a:xfrm>
          <a:prstGeom prst="rect">
            <a:avLst/>
          </a:prstGeom>
          <a:solidFill>
            <a:srgbClr val="1B3A5C">
              <a:alpha val="6275"/>
            </a:srgbClr>
          </a:solidFill>
          <a:ln w="25400">
            <a:solidFill>
              <a:srgbClr val="1B3A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73775" y="215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111125"/>
                </a:moveTo>
                <a:cubicBezTo>
                  <a:pt x="254407" y="111125"/>
                  <a:pt x="244475" y="101193"/>
                  <a:pt x="244475" y="88900"/>
                </a:cubicBezTo>
                <a:cubicBezTo>
                  <a:pt x="244475" y="76607"/>
                  <a:pt x="254407" y="66675"/>
                  <a:pt x="266700" y="66675"/>
                </a:cubicBezTo>
                <a:lnTo>
                  <a:pt x="377825" y="66675"/>
                </a:lnTo>
                <a:cubicBezTo>
                  <a:pt x="390118" y="66675"/>
                  <a:pt x="400050" y="76607"/>
                  <a:pt x="400050" y="88900"/>
                </a:cubicBezTo>
                <a:lnTo>
                  <a:pt x="400050" y="200025"/>
                </a:lnTo>
                <a:cubicBezTo>
                  <a:pt x="400050" y="212318"/>
                  <a:pt x="390118" y="222250"/>
                  <a:pt x="377825" y="222250"/>
                </a:cubicBezTo>
                <a:cubicBezTo>
                  <a:pt x="365532" y="222250"/>
                  <a:pt x="355600" y="212318"/>
                  <a:pt x="355600" y="200025"/>
                </a:cubicBezTo>
                <a:lnTo>
                  <a:pt x="355600" y="142587"/>
                </a:lnTo>
                <a:lnTo>
                  <a:pt x="237946" y="260241"/>
                </a:lnTo>
                <a:cubicBezTo>
                  <a:pt x="229265" y="268923"/>
                  <a:pt x="215166" y="268923"/>
                  <a:pt x="206484" y="260241"/>
                </a:cubicBezTo>
                <a:lnTo>
                  <a:pt x="133350" y="187037"/>
                </a:lnTo>
                <a:lnTo>
                  <a:pt x="37921" y="282396"/>
                </a:lnTo>
                <a:cubicBezTo>
                  <a:pt x="29240" y="291078"/>
                  <a:pt x="15141" y="291078"/>
                  <a:pt x="6459" y="282396"/>
                </a:cubicBezTo>
                <a:cubicBezTo>
                  <a:pt x="-2222" y="273715"/>
                  <a:pt x="-2222" y="259616"/>
                  <a:pt x="6459" y="250934"/>
                </a:cubicBezTo>
                <a:lnTo>
                  <a:pt x="117584" y="139809"/>
                </a:lnTo>
                <a:cubicBezTo>
                  <a:pt x="126266" y="131128"/>
                  <a:pt x="140365" y="131128"/>
                  <a:pt x="149046" y="139809"/>
                </a:cubicBezTo>
                <a:lnTo>
                  <a:pt x="222250" y="213013"/>
                </a:lnTo>
                <a:lnTo>
                  <a:pt x="324138" y="111125"/>
                </a:lnTo>
                <a:lnTo>
                  <a:pt x="266700" y="111125"/>
                </a:lnTo>
                <a:close/>
              </a:path>
            </a:pathLst>
          </a:custGeom>
          <a:solidFill>
            <a:srgbClr val="1B3A5C"/>
          </a:solidFill>
        </p:spPr>
      </p:sp>
      <p:sp>
        <p:nvSpPr>
          <p:cNvPr id="18" name="Text 16"/>
          <p:cNvSpPr/>
          <p:nvPr/>
        </p:nvSpPr>
        <p:spPr>
          <a:xfrm>
            <a:off x="6578600" y="21209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Lender-Favourable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0" y="2603500"/>
            <a:ext cx="406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Borrower risk is significantly higher. Greater protection for the lender, more burden on borrower.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22000" y="1968500"/>
            <a:ext cx="4572000" cy="1905000"/>
          </a:xfrm>
          <a:prstGeom prst="rect">
            <a:avLst/>
          </a:prstGeom>
          <a:solidFill>
            <a:srgbClr val="B45309">
              <a:alpha val="6275"/>
            </a:srgbClr>
          </a:solidFill>
          <a:ln w="2540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3775" y="2159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66700" y="244475"/>
                </a:moveTo>
                <a:cubicBezTo>
                  <a:pt x="254407" y="244475"/>
                  <a:pt x="244475" y="254407"/>
                  <a:pt x="244475" y="266700"/>
                </a:cubicBezTo>
                <a:cubicBezTo>
                  <a:pt x="244475" y="278993"/>
                  <a:pt x="254407" y="288925"/>
                  <a:pt x="266700" y="288925"/>
                </a:cubicBezTo>
                <a:lnTo>
                  <a:pt x="377825" y="288925"/>
                </a:lnTo>
                <a:cubicBezTo>
                  <a:pt x="390118" y="288925"/>
                  <a:pt x="400050" y="278993"/>
                  <a:pt x="400050" y="266700"/>
                </a:cubicBezTo>
                <a:lnTo>
                  <a:pt x="400050" y="155575"/>
                </a:lnTo>
                <a:cubicBezTo>
                  <a:pt x="400050" y="143282"/>
                  <a:pt x="390118" y="133350"/>
                  <a:pt x="377825" y="133350"/>
                </a:cubicBezTo>
                <a:cubicBezTo>
                  <a:pt x="365532" y="133350"/>
                  <a:pt x="355600" y="143282"/>
                  <a:pt x="355600" y="155575"/>
                </a:cubicBezTo>
                <a:lnTo>
                  <a:pt x="355600" y="213013"/>
                </a:lnTo>
                <a:lnTo>
                  <a:pt x="237946" y="95359"/>
                </a:lnTo>
                <a:cubicBezTo>
                  <a:pt x="229265" y="86678"/>
                  <a:pt x="215166" y="86678"/>
                  <a:pt x="206484" y="95359"/>
                </a:cubicBezTo>
                <a:lnTo>
                  <a:pt x="133350" y="168563"/>
                </a:lnTo>
                <a:lnTo>
                  <a:pt x="37921" y="73204"/>
                </a:lnTo>
                <a:cubicBezTo>
                  <a:pt x="29240" y="64522"/>
                  <a:pt x="15141" y="64522"/>
                  <a:pt x="6459" y="73204"/>
                </a:cubicBezTo>
                <a:cubicBezTo>
                  <a:pt x="-2222" y="81885"/>
                  <a:pt x="-2222" y="95984"/>
                  <a:pt x="6459" y="104666"/>
                </a:cubicBezTo>
                <a:lnTo>
                  <a:pt x="117584" y="215791"/>
                </a:lnTo>
                <a:cubicBezTo>
                  <a:pt x="126266" y="224473"/>
                  <a:pt x="140365" y="224473"/>
                  <a:pt x="149046" y="215791"/>
                </a:cubicBezTo>
                <a:lnTo>
                  <a:pt x="222250" y="142587"/>
                </a:lnTo>
                <a:lnTo>
                  <a:pt x="324138" y="244475"/>
                </a:lnTo>
                <a:lnTo>
                  <a:pt x="266700" y="244475"/>
                </a:lnTo>
                <a:close/>
              </a:path>
            </a:pathLst>
          </a:custGeom>
          <a:solidFill>
            <a:srgbClr val="B45309"/>
          </a:solidFill>
        </p:spPr>
      </p:sp>
      <p:sp>
        <p:nvSpPr>
          <p:cNvPr id="22" name="Text 20"/>
          <p:cNvSpPr/>
          <p:nvPr/>
        </p:nvSpPr>
        <p:spPr>
          <a:xfrm>
            <a:off x="11658600" y="2120900"/>
            <a:ext cx="3556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Borrower-Favourable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76000" y="2603500"/>
            <a:ext cx="4064000" cy="114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 risk is significantly higher. Contract provisions lower lender protection or create uncertainty.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Outputs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62000" y="4445000"/>
            <a:ext cx="3429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996950" y="459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05038" y="142875"/>
                </a:moveTo>
                <a:lnTo>
                  <a:pt x="200263" y="142875"/>
                </a:lnTo>
                <a:cubicBezTo>
                  <a:pt x="189726" y="142875"/>
                  <a:pt x="181213" y="134362"/>
                  <a:pt x="181213" y="123825"/>
                </a:cubicBezTo>
                <a:lnTo>
                  <a:pt x="181213" y="19050"/>
                </a:lnTo>
                <a:cubicBezTo>
                  <a:pt x="181213" y="8513"/>
                  <a:pt x="189786" y="-119"/>
                  <a:pt x="200204" y="1250"/>
                </a:cubicBezTo>
                <a:cubicBezTo>
                  <a:pt x="263902" y="9704"/>
                  <a:pt x="314385" y="60186"/>
                  <a:pt x="322838" y="123885"/>
                </a:cubicBezTo>
                <a:cubicBezTo>
                  <a:pt x="324207" y="134303"/>
                  <a:pt x="315575" y="142875"/>
                  <a:pt x="305038" y="142875"/>
                </a:cubicBezTo>
                <a:close/>
                <a:moveTo>
                  <a:pt x="132517" y="22146"/>
                </a:moveTo>
                <a:cubicBezTo>
                  <a:pt x="143292" y="19883"/>
                  <a:pt x="152638" y="28694"/>
                  <a:pt x="152638" y="39707"/>
                </a:cubicBezTo>
                <a:lnTo>
                  <a:pt x="152638" y="157163"/>
                </a:lnTo>
                <a:cubicBezTo>
                  <a:pt x="152638" y="160496"/>
                  <a:pt x="153829" y="163711"/>
                  <a:pt x="155912" y="166271"/>
                </a:cubicBezTo>
                <a:lnTo>
                  <a:pt x="234553" y="261164"/>
                </a:lnTo>
                <a:cubicBezTo>
                  <a:pt x="241518" y="269558"/>
                  <a:pt x="240030" y="282238"/>
                  <a:pt x="230445" y="287417"/>
                </a:cubicBezTo>
                <a:cubicBezTo>
                  <a:pt x="210145" y="298490"/>
                  <a:pt x="186869" y="304800"/>
                  <a:pt x="162163" y="304800"/>
                </a:cubicBezTo>
                <a:cubicBezTo>
                  <a:pt x="83284" y="304800"/>
                  <a:pt x="19288" y="240804"/>
                  <a:pt x="19288" y="161925"/>
                </a:cubicBezTo>
                <a:cubicBezTo>
                  <a:pt x="19288" y="93166"/>
                  <a:pt x="67806" y="35778"/>
                  <a:pt x="132517" y="22146"/>
                </a:cubicBezTo>
                <a:close/>
                <a:moveTo>
                  <a:pt x="284440" y="171450"/>
                </a:moveTo>
                <a:lnTo>
                  <a:pt x="322540" y="171450"/>
                </a:lnTo>
                <a:cubicBezTo>
                  <a:pt x="333554" y="171450"/>
                  <a:pt x="342364" y="180796"/>
                  <a:pt x="340102" y="191572"/>
                </a:cubicBezTo>
                <a:cubicBezTo>
                  <a:pt x="334030" y="220385"/>
                  <a:pt x="319266" y="245983"/>
                  <a:pt x="298668" y="265509"/>
                </a:cubicBezTo>
                <a:cubicBezTo>
                  <a:pt x="291346" y="272475"/>
                  <a:pt x="279856" y="270986"/>
                  <a:pt x="273427" y="263188"/>
                </a:cubicBezTo>
                <a:lnTo>
                  <a:pt x="223183" y="202644"/>
                </a:lnTo>
                <a:cubicBezTo>
                  <a:pt x="212884" y="190202"/>
                  <a:pt x="221754" y="171450"/>
                  <a:pt x="237827" y="171450"/>
                </a:cubicBezTo>
                <a:lnTo>
                  <a:pt x="284381" y="171450"/>
                </a:lnTo>
                <a:close/>
              </a:path>
            </a:pathLst>
          </a:custGeom>
          <a:solidFill>
            <a:srgbClr val="1B3A5C"/>
          </a:solidFill>
        </p:spPr>
      </p:sp>
      <p:sp>
        <p:nvSpPr>
          <p:cNvPr id="27" name="Text 25"/>
          <p:cNvSpPr/>
          <p:nvPr/>
        </p:nvSpPr>
        <p:spPr>
          <a:xfrm>
            <a:off x="952500" y="49784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Risk Scores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 + Borrower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45000" y="4445000"/>
            <a:ext cx="3429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Shape 27"/>
          <p:cNvSpPr/>
          <p:nvPr/>
        </p:nvSpPr>
        <p:spPr>
          <a:xfrm>
            <a:off x="4660900" y="4597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30" name="Text 28"/>
          <p:cNvSpPr/>
          <p:nvPr/>
        </p:nvSpPr>
        <p:spPr>
          <a:xfrm>
            <a:off x="4635500" y="49784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Balance Result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28000" y="4445000"/>
            <a:ext cx="3429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2" name="Shape 30"/>
          <p:cNvSpPr/>
          <p:nvPr/>
        </p:nvSpPr>
        <p:spPr>
          <a:xfrm>
            <a:off x="8382000" y="459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0"/>
                </a:moveTo>
                <a:cubicBezTo>
                  <a:pt x="236577" y="285750"/>
                  <a:pt x="304800" y="221754"/>
                  <a:pt x="304800" y="142875"/>
                </a:cubicBezTo>
                <a:cubicBezTo>
                  <a:pt x="304800" y="63996"/>
                  <a:pt x="236577" y="0"/>
                  <a:pt x="152400" y="0"/>
                </a:cubicBezTo>
                <a:cubicBezTo>
                  <a:pt x="68223" y="0"/>
                  <a:pt x="0" y="63996"/>
                  <a:pt x="0" y="142875"/>
                </a:cubicBezTo>
                <a:cubicBezTo>
                  <a:pt x="0" y="175200"/>
                  <a:pt x="11430" y="204966"/>
                  <a:pt x="30718" y="228898"/>
                </a:cubicBezTo>
                <a:lnTo>
                  <a:pt x="1667" y="283845"/>
                </a:lnTo>
                <a:cubicBezTo>
                  <a:pt x="-1191" y="289203"/>
                  <a:pt x="-298" y="295751"/>
                  <a:pt x="3810" y="300216"/>
                </a:cubicBezTo>
                <a:cubicBezTo>
                  <a:pt x="7918" y="304681"/>
                  <a:pt x="14407" y="306050"/>
                  <a:pt x="19943" y="303669"/>
                </a:cubicBezTo>
                <a:lnTo>
                  <a:pt x="90428" y="273487"/>
                </a:lnTo>
                <a:cubicBezTo>
                  <a:pt x="109359" y="281345"/>
                  <a:pt x="130314" y="285750"/>
                  <a:pt x="152400" y="285750"/>
                </a:cubicBezTo>
                <a:close/>
                <a:moveTo>
                  <a:pt x="76200" y="123825"/>
                </a:moveTo>
                <a:cubicBezTo>
                  <a:pt x="86714" y="123825"/>
                  <a:pt x="95250" y="132361"/>
                  <a:pt x="95250" y="142875"/>
                </a:cubicBezTo>
                <a:cubicBezTo>
                  <a:pt x="95250" y="153389"/>
                  <a:pt x="86714" y="161925"/>
                  <a:pt x="76200" y="161925"/>
                </a:cubicBezTo>
                <a:cubicBezTo>
                  <a:pt x="65686" y="161925"/>
                  <a:pt x="57150" y="153389"/>
                  <a:pt x="57150" y="142875"/>
                </a:cubicBezTo>
                <a:cubicBezTo>
                  <a:pt x="57150" y="132361"/>
                  <a:pt x="65686" y="123825"/>
                  <a:pt x="76200" y="123825"/>
                </a:cubicBezTo>
                <a:close/>
                <a:moveTo>
                  <a:pt x="152400" y="123825"/>
                </a:moveTo>
                <a:cubicBezTo>
                  <a:pt x="162914" y="123825"/>
                  <a:pt x="171450" y="132361"/>
                  <a:pt x="171450" y="142875"/>
                </a:cubicBezTo>
                <a:cubicBezTo>
                  <a:pt x="171450" y="153389"/>
                  <a:pt x="162914" y="161925"/>
                  <a:pt x="152400" y="161925"/>
                </a:cubicBezTo>
                <a:cubicBezTo>
                  <a:pt x="141886" y="161925"/>
                  <a:pt x="133350" y="153389"/>
                  <a:pt x="133350" y="142875"/>
                </a:cubicBezTo>
                <a:cubicBezTo>
                  <a:pt x="133350" y="132361"/>
                  <a:pt x="141886" y="123825"/>
                  <a:pt x="152400" y="123825"/>
                </a:cubicBezTo>
                <a:close/>
                <a:moveTo>
                  <a:pt x="209550" y="142875"/>
                </a:moveTo>
                <a:cubicBezTo>
                  <a:pt x="209550" y="132361"/>
                  <a:pt x="218086" y="123825"/>
                  <a:pt x="228600" y="123825"/>
                </a:cubicBezTo>
                <a:cubicBezTo>
                  <a:pt x="239114" y="123825"/>
                  <a:pt x="247650" y="132361"/>
                  <a:pt x="247650" y="142875"/>
                </a:cubicBezTo>
                <a:cubicBezTo>
                  <a:pt x="247650" y="153389"/>
                  <a:pt x="239114" y="161925"/>
                  <a:pt x="228600" y="161925"/>
                </a:cubicBezTo>
                <a:cubicBezTo>
                  <a:pt x="218086" y="161925"/>
                  <a:pt x="209550" y="153389"/>
                  <a:pt x="209550" y="142875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33" name="Text 31"/>
          <p:cNvSpPr/>
          <p:nvPr/>
        </p:nvSpPr>
        <p:spPr>
          <a:xfrm>
            <a:off x="8318500" y="49784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Clause Explanations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Level-by-level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811000" y="4445000"/>
            <a:ext cx="3683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Shape 33"/>
          <p:cNvSpPr/>
          <p:nvPr/>
        </p:nvSpPr>
        <p:spPr>
          <a:xfrm>
            <a:off x="12065000" y="459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36" name="Text 34"/>
          <p:cNvSpPr/>
          <p:nvPr/>
        </p:nvSpPr>
        <p:spPr>
          <a:xfrm>
            <a:off x="12001500" y="4978400"/>
            <a:ext cx="3302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Visual Analysis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Charts + Fairness gauge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5905500"/>
            <a:ext cx="3429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Shape 36"/>
          <p:cNvSpPr/>
          <p:nvPr/>
        </p:nvSpPr>
        <p:spPr>
          <a:xfrm>
            <a:off x="1054100" y="60579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1797" y="175974"/>
                </a:moveTo>
                <a:cubicBezTo>
                  <a:pt x="96917" y="169962"/>
                  <a:pt x="96262" y="160973"/>
                  <a:pt x="90249" y="155853"/>
                </a:cubicBezTo>
                <a:cubicBezTo>
                  <a:pt x="84237" y="150733"/>
                  <a:pt x="75248" y="151388"/>
                  <a:pt x="70128" y="157401"/>
                </a:cubicBezTo>
                <a:lnTo>
                  <a:pt x="41553" y="190738"/>
                </a:lnTo>
                <a:cubicBezTo>
                  <a:pt x="36969" y="196096"/>
                  <a:pt x="36969" y="203954"/>
                  <a:pt x="41553" y="209312"/>
                </a:cubicBezTo>
                <a:lnTo>
                  <a:pt x="70128" y="242649"/>
                </a:lnTo>
                <a:cubicBezTo>
                  <a:pt x="75248" y="248662"/>
                  <a:pt x="84296" y="249317"/>
                  <a:pt x="90249" y="244197"/>
                </a:cubicBezTo>
                <a:cubicBezTo>
                  <a:pt x="96203" y="239078"/>
                  <a:pt x="96917" y="230029"/>
                  <a:pt x="91797" y="224076"/>
                </a:cubicBezTo>
                <a:lnTo>
                  <a:pt x="71199" y="200025"/>
                </a:lnTo>
                <a:lnTo>
                  <a:pt x="91797" y="175974"/>
                </a:lnTo>
                <a:close/>
                <a:moveTo>
                  <a:pt x="158472" y="157401"/>
                </a:moveTo>
                <a:cubicBezTo>
                  <a:pt x="153353" y="151388"/>
                  <a:pt x="144304" y="150733"/>
                  <a:pt x="138351" y="155853"/>
                </a:cubicBezTo>
                <a:cubicBezTo>
                  <a:pt x="132398" y="160973"/>
                  <a:pt x="131683" y="170021"/>
                  <a:pt x="136803" y="175974"/>
                </a:cubicBezTo>
                <a:lnTo>
                  <a:pt x="157401" y="200025"/>
                </a:lnTo>
                <a:lnTo>
                  <a:pt x="136803" y="224076"/>
                </a:lnTo>
                <a:cubicBezTo>
                  <a:pt x="131683" y="230088"/>
                  <a:pt x="132338" y="239078"/>
                  <a:pt x="138351" y="244197"/>
                </a:cubicBezTo>
                <a:cubicBezTo>
                  <a:pt x="144363" y="249317"/>
                  <a:pt x="153353" y="248662"/>
                  <a:pt x="158472" y="242649"/>
                </a:cubicBezTo>
                <a:lnTo>
                  <a:pt x="187047" y="209312"/>
                </a:lnTo>
                <a:cubicBezTo>
                  <a:pt x="191631" y="203954"/>
                  <a:pt x="191631" y="196096"/>
                  <a:pt x="187047" y="190738"/>
                </a:cubicBezTo>
                <a:lnTo>
                  <a:pt x="158472" y="157401"/>
                </a:lnTo>
                <a:close/>
              </a:path>
            </a:pathLst>
          </a:custGeom>
          <a:solidFill>
            <a:srgbClr val="1B3A5C"/>
          </a:solidFill>
        </p:spPr>
      </p:sp>
      <p:sp>
        <p:nvSpPr>
          <p:cNvPr id="39" name="Text 37"/>
          <p:cNvSpPr/>
          <p:nvPr/>
        </p:nvSpPr>
        <p:spPr>
          <a:xfrm>
            <a:off x="952500" y="64389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JSON Reports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45000" y="5905500"/>
            <a:ext cx="3429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Shape 39"/>
          <p:cNvSpPr/>
          <p:nvPr/>
        </p:nvSpPr>
        <p:spPr>
          <a:xfrm>
            <a:off x="4737100" y="60579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B45309"/>
          </a:solidFill>
        </p:spPr>
      </p:sp>
      <p:sp>
        <p:nvSpPr>
          <p:cNvPr id="42" name="Text 40"/>
          <p:cNvSpPr/>
          <p:nvPr/>
        </p:nvSpPr>
        <p:spPr>
          <a:xfrm>
            <a:off x="4635500" y="64389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Recommendations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Fairness-oriented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28000" y="5905500"/>
            <a:ext cx="3429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Shape 42"/>
          <p:cNvSpPr/>
          <p:nvPr/>
        </p:nvSpPr>
        <p:spPr>
          <a:xfrm>
            <a:off x="8382000" y="6057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1B3A5C"/>
          </a:solidFill>
        </p:spPr>
      </p:sp>
      <p:sp>
        <p:nvSpPr>
          <p:cNvPr id="45" name="Text 43"/>
          <p:cNvSpPr/>
          <p:nvPr/>
        </p:nvSpPr>
        <p:spPr>
          <a:xfrm>
            <a:off x="8318500" y="6438900"/>
            <a:ext cx="304800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Multi-File Compare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Cross-agreement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811000" y="5905500"/>
            <a:ext cx="3683000" cy="1270000"/>
          </a:xfrm>
          <a:prstGeom prst="rect">
            <a:avLst/>
          </a:prstGeom>
          <a:solidFill>
            <a:srgbClr val="1B3A5C">
              <a:alpha val="6275"/>
            </a:srgbClr>
          </a:solidFill>
          <a:ln w="12700">
            <a:solidFill>
              <a:srgbClr val="1B3A5C">
                <a:alpha val="18824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001500" y="6032500"/>
            <a:ext cx="3302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Gauge-based</a:t>
            </a:r>
            <a:r>
              <a:rPr lang="en-US" sz="14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fairness visualization for intuitive interpretation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5080000" cy="215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235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318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334000"/>
            <a:ext cx="1016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Experimental validation and findings from testing the framework on sample loan agreements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Setup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7112000" cy="355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1038225" y="1625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13" name="Text 11"/>
          <p:cNvSpPr/>
          <p:nvPr/>
        </p:nvSpPr>
        <p:spPr>
          <a:xfrm>
            <a:off x="1498600" y="15875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16000" y="2095500"/>
            <a:ext cx="6604000" cy="285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sample loan agreements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Public finance templates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Legal repositories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 sample datasets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Featuring diverse contractual stipulations: repayment schedules, interest rates, collateral, default clauses, enforcement procedures, penalties, assignment rights, and legal protections.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1460500"/>
            <a:ext cx="7112000" cy="3556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8613775" y="1625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1B3A5C"/>
          </a:solidFill>
        </p:spPr>
      </p:sp>
      <p:sp>
        <p:nvSpPr>
          <p:cNvPr id="17" name="Text 15"/>
          <p:cNvSpPr/>
          <p:nvPr/>
        </p:nvSpPr>
        <p:spPr>
          <a:xfrm>
            <a:off x="9118600" y="15875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636000" y="2095500"/>
            <a:ext cx="6604000" cy="2857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Flask-based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web application with: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 extraction and text parsing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Rule-based clause analysis engine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Visualization tools (charts, fairness gauge)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JSON reporting system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Supports both single-file and multi-file processing modes for comprehensive evaluation.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Experimental Procedure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62000" y="5651500"/>
            <a:ext cx="3302000" cy="1143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1" name="Text 19"/>
          <p:cNvSpPr/>
          <p:nvPr/>
        </p:nvSpPr>
        <p:spPr>
          <a:xfrm>
            <a:off x="889000" y="5715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Step 1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Load agreement documents into framework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64000" y="5969000"/>
            <a:ext cx="317500" cy="317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23" name="Shape 21"/>
          <p:cNvSpPr/>
          <p:nvPr/>
        </p:nvSpPr>
        <p:spPr>
          <a:xfrm>
            <a:off x="4445000" y="5651500"/>
            <a:ext cx="3302000" cy="1143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4" name="Text 22"/>
          <p:cNvSpPr/>
          <p:nvPr/>
        </p:nvSpPr>
        <p:spPr>
          <a:xfrm>
            <a:off x="4572000" y="5715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Step 2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Identify and classify contractual clauses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47000" y="5969000"/>
            <a:ext cx="317500" cy="317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26" name="Shape 24"/>
          <p:cNvSpPr/>
          <p:nvPr/>
        </p:nvSpPr>
        <p:spPr>
          <a:xfrm>
            <a:off x="8128000" y="5651500"/>
            <a:ext cx="3302000" cy="1143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7" name="Text 25"/>
          <p:cNvSpPr/>
          <p:nvPr/>
        </p:nvSpPr>
        <p:spPr>
          <a:xfrm>
            <a:off x="8255000" y="5715000"/>
            <a:ext cx="3048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Step 3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Assign risk scores and compute balance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430000" y="5969000"/>
            <a:ext cx="317500" cy="3175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/>
          </a:solidFill>
        </p:spPr>
      </p:sp>
      <p:sp>
        <p:nvSpPr>
          <p:cNvPr id="29" name="Shape 27"/>
          <p:cNvSpPr/>
          <p:nvPr/>
        </p:nvSpPr>
        <p:spPr>
          <a:xfrm>
            <a:off x="11811000" y="5651500"/>
            <a:ext cx="3683000" cy="1143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30" name="Text 28"/>
          <p:cNvSpPr/>
          <p:nvPr/>
        </p:nvSpPr>
        <p:spPr>
          <a:xfrm>
            <a:off x="11938000" y="5715000"/>
            <a:ext cx="34290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Step 4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Generate outputs: scores, viz, recommendations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6985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Evaluation Scope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2000" y="7493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Framework tested for capability to process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loan contracts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loan contracts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simultaneously. Both modes evaluated for: clause extraction accuracy, risk scoring consistency, balance classification validity, recommendation relevance, and visualization clarity.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762000" y="1778000"/>
            <a:ext cx="5080000" cy="215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235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318000"/>
            <a:ext cx="1016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Results &amp; Discussion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334000"/>
            <a:ext cx="1016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Experimental validation and findings from testing the framework on sample loan agreements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Results: Sample Contract Analysis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762000" y="1460500"/>
          <a:ext cx="8636000" cy="5334000"/>
        </p:xfrm>
        <a:graphic>
          <a:graphicData uri="http://schemas.openxmlformats.org/drawingml/2006/table">
            <a:tbl>
              <a:tblPr/>
              <a:tblGrid>
                <a:gridCol w="3886200"/>
                <a:gridCol w="2374900"/>
                <a:gridCol w="2374900"/>
              </a:tblGrid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Sample Contract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Borrower Risk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Lender Risk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1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16.5%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15.8%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2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21.7%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2.5%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3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20.8%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13.0%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4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20.8%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21.7%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5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766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7.5%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F766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6.1%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6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25.8%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8.7%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7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3.3%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14.8%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8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6.7%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9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10.0%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1.7%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9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Contract 10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14.2%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B4530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27.8%</a:t>
                      </a:r>
                      <a:endParaRPr lang="en-US" sz="14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 0"/>
          <p:cNvGraphicFramePr/>
          <p:nvPr/>
        </p:nvGraphicFramePr>
        <p:xfrm>
          <a:off x="9906000" y="1460500"/>
          <a:ext cx="55880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Text 9"/>
          <p:cNvSpPr/>
          <p:nvPr/>
        </p:nvSpPr>
        <p:spPr>
          <a:xfrm>
            <a:off x="762000" y="70485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Observations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762000" y="7556500"/>
            <a:ext cx="4699000" cy="88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11"/>
          <p:cNvSpPr/>
          <p:nvPr/>
        </p:nvSpPr>
        <p:spPr>
          <a:xfrm>
            <a:off x="952500" y="7620000"/>
            <a:ext cx="431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Lender-favourable</a:t>
            </a:r>
            <a:r>
              <a:rPr lang="en-US" sz="14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: Contracts 2, 3, 6 — high borrower risk (21.7%, 20.8%, 25.8%)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778500" y="7556500"/>
            <a:ext cx="4699000" cy="88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3"/>
          <p:cNvSpPr/>
          <p:nvPr/>
        </p:nvSpPr>
        <p:spPr>
          <a:xfrm>
            <a:off x="5969000" y="7620000"/>
            <a:ext cx="431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0F766E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Most balanced</a:t>
            </a:r>
            <a:r>
              <a:rPr lang="en-US" sz="14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: Contract 5 (7.5% vs 6.1%) and Contract 4 (20.8% vs 21.7%)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0795000" y="7556500"/>
            <a:ext cx="4699000" cy="889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>
            <a:off x="10985500" y="7620000"/>
            <a:ext cx="431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Borrower-favourable</a:t>
            </a:r>
            <a:r>
              <a:rPr lang="en-US" sz="1400" dirty="0">
                <a:solidFill>
                  <a:srgbClr val="1E293B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: Contracts 7, 10 — higher lender risk (14.8%, 27.8%)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Findings &amp; Discussion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Shape 9"/>
          <p:cNvSpPr/>
          <p:nvPr/>
        </p:nvSpPr>
        <p:spPr>
          <a:xfrm>
            <a:off x="762000" y="1460500"/>
            <a:ext cx="71120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2" name="Text 10"/>
          <p:cNvSpPr/>
          <p:nvPr/>
        </p:nvSpPr>
        <p:spPr>
          <a:xfrm>
            <a:off x="952500" y="15240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51000" y="1587500"/>
            <a:ext cx="60325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Measurable contractual imbalance exists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across different loan agreements. Contractual provisions directly affect risk allocation between lender and borrower.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1460500"/>
            <a:ext cx="71120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8572500" y="15240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271000" y="1587500"/>
            <a:ext cx="60325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analysis succeeds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framework pinpointed specific clauses causing imbalance, bringing transparency to users.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175000"/>
            <a:ext cx="71120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952500" y="32385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51000" y="3302000"/>
            <a:ext cx="60325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Recommendation module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effectively suggested corrective measures to make contracts more balanced, converting analysis into decision support.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3175000"/>
            <a:ext cx="7112000" cy="14605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8572500" y="32385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1B3A5C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71000" y="3302000"/>
            <a:ext cx="60325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Multi-file comparison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enabled direct fairness comparison between contracts, allowing users to identify the most balanced agreement among options.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4889500"/>
            <a:ext cx="14732000" cy="1460500"/>
          </a:xfrm>
          <a:prstGeom prst="rect">
            <a:avLst/>
          </a:prstGeom>
          <a:solidFill>
            <a:srgbClr val="1B3A5C">
              <a:alpha val="3137"/>
            </a:srgbClr>
          </a:solidFill>
          <a:ln w="12700">
            <a:solidFill>
              <a:srgbClr val="1B3A5C">
                <a:alpha val="12549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2500" y="4953000"/>
            <a:ext cx="635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B45309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651000" y="5016500"/>
            <a:ext cx="13589000" cy="1206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Visualization outputs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(Fairness gauge, score charts) made complex legal and financial information easy to interpret. Graphical presentation helped users grasp the overall contractual position of an agreement at a glance.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62000" y="6667500"/>
            <a:ext cx="14732000" cy="165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Shape 25"/>
          <p:cNvSpPr/>
          <p:nvPr/>
        </p:nvSpPr>
        <p:spPr>
          <a:xfrm>
            <a:off x="1057275" y="6921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B45309"/>
          </a:solidFill>
        </p:spPr>
      </p:sp>
      <p:sp>
        <p:nvSpPr>
          <p:cNvPr id="28" name="Text 26"/>
          <p:cNvSpPr/>
          <p:nvPr/>
        </p:nvSpPr>
        <p:spPr>
          <a:xfrm>
            <a:off x="1587500" y="6858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4530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Overall Conclusion from Results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79500" y="7366000"/>
            <a:ext cx="14097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framework effectively goes beyond typical contract intelligence tasks by integrating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dual-risk evaluation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contractual balance computation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multi-file comparison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fairness-based recommendations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one comprehensive package.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778000"/>
            <a:ext cx="5080000" cy="215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8235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2000" y="4318000"/>
            <a:ext cx="889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5334000"/>
            <a:ext cx="1016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5" name="Text 3"/>
          <p:cNvSpPr/>
          <p:nvPr/>
        </p:nvSpPr>
        <p:spPr>
          <a:xfrm>
            <a:off x="762000" y="5715000"/>
            <a:ext cx="8890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Summary of contributions and future directions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700000" y="5080000"/>
            <a:ext cx="3556000" cy="3556000"/>
          </a:xfrm>
          <a:prstGeom prst="ellipse">
            <a:avLst/>
          </a:prstGeom>
          <a:solidFill>
            <a:srgbClr val="FFFFFF">
              <a:alpha val="3137"/>
            </a:srgbClr>
          </a:solidFill>
        </p:spPr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" name="Text 1"/>
          <p:cNvSpPr/>
          <p:nvPr/>
        </p:nvSpPr>
        <p:spPr>
          <a:xfrm>
            <a:off x="508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Proposed 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0" y="38100"/>
            <a:ext cx="31496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Experimentation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13004800" y="38100"/>
            <a:ext cx="32004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35000"/>
            <a:ext cx="1143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5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Summary &amp; Contributions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11" name="Text 9"/>
          <p:cNvSpPr/>
          <p:nvPr/>
        </p:nvSpPr>
        <p:spPr>
          <a:xfrm>
            <a:off x="762000" y="1460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Contributions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62000" y="1968500"/>
            <a:ext cx="7112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762000" y="1968500"/>
            <a:ext cx="76200" cy="1270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4" name="Text 12"/>
          <p:cNvSpPr/>
          <p:nvPr/>
        </p:nvSpPr>
        <p:spPr>
          <a:xfrm>
            <a:off x="1079500" y="2095500"/>
            <a:ext cx="6540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framework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assess contractual fairness through dual-risk analysis of lender and borrower exposure at the clause level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382000" y="1968500"/>
            <a:ext cx="7112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Shape 14"/>
          <p:cNvSpPr/>
          <p:nvPr/>
        </p:nvSpPr>
        <p:spPr>
          <a:xfrm>
            <a:off x="8382000" y="1968500"/>
            <a:ext cx="76200" cy="1270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7" name="Text 15"/>
          <p:cNvSpPr/>
          <p:nvPr/>
        </p:nvSpPr>
        <p:spPr>
          <a:xfrm>
            <a:off x="8699500" y="2095500"/>
            <a:ext cx="6540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Multi-file agreement comparison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capability enabling cross-agreement fairness evaluation and risk distribution analysis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3429000"/>
            <a:ext cx="7112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Shape 17"/>
          <p:cNvSpPr/>
          <p:nvPr/>
        </p:nvSpPr>
        <p:spPr>
          <a:xfrm>
            <a:off x="762000" y="3429000"/>
            <a:ext cx="76200" cy="1270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0" name="Text 18"/>
          <p:cNvSpPr/>
          <p:nvPr/>
        </p:nvSpPr>
        <p:spPr>
          <a:xfrm>
            <a:off x="1079500" y="3556000"/>
            <a:ext cx="6540500" cy="10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Explainable interpretation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clause-level transparency — identifying which clauses contribute to scores and why they are flagged as risky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0" y="3429000"/>
            <a:ext cx="7112000" cy="1270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Shape 20"/>
          <p:cNvSpPr/>
          <p:nvPr/>
        </p:nvSpPr>
        <p:spPr>
          <a:xfrm>
            <a:off x="8382000" y="3429000"/>
            <a:ext cx="76200" cy="1270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23" name="Text 21"/>
          <p:cNvSpPr/>
          <p:nvPr/>
        </p:nvSpPr>
        <p:spPr>
          <a:xfrm>
            <a:off x="8699500" y="3556000"/>
            <a:ext cx="6540500" cy="1079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Fairness-based recommendations</a:t>
            </a: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contract improvement, transforming the system from passive analysis to active decision support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4889500"/>
            <a:ext cx="14732000" cy="1270000"/>
          </a:xfrm>
          <a:prstGeom prst="rect">
            <a:avLst/>
          </a:prstGeom>
          <a:solidFill>
            <a:srgbClr val="1B3A5C">
              <a:alpha val="3137"/>
            </a:srgbClr>
          </a:solidFill>
          <a:ln w="12700">
            <a:solidFill>
              <a:srgbClr val="1B3A5C">
                <a:alpha val="12549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795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1B3A5C"/>
          </a:solidFill>
        </p:spPr>
      </p:sp>
      <p:sp>
        <p:nvSpPr>
          <p:cNvPr id="26" name="Text 24"/>
          <p:cNvSpPr/>
          <p:nvPr/>
        </p:nvSpPr>
        <p:spPr>
          <a:xfrm>
            <a:off x="1651000" y="5080000"/>
            <a:ext cx="13589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 of four domains</a:t>
            </a:r>
            <a:r>
              <a:rPr lang="en-US" sz="17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Contract Intelligence + Explainable AI + Intelligent Finance + Regulatory Technology, creating a comprehensive fairness-focused financial contract intelligence system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6477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Impact &amp; Stakeholders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62000" y="6985000"/>
            <a:ext cx="3429000" cy="1016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29" name="Shape 27"/>
          <p:cNvSpPr/>
          <p:nvPr/>
        </p:nvSpPr>
        <p:spPr>
          <a:xfrm>
            <a:off x="1016000" y="723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1865" y="12025"/>
                </a:moveTo>
                <a:cubicBezTo>
                  <a:pt x="156031" y="8692"/>
                  <a:pt x="148828" y="8692"/>
                  <a:pt x="142935" y="12025"/>
                </a:cubicBezTo>
                <a:lnTo>
                  <a:pt x="9585" y="88225"/>
                </a:lnTo>
                <a:cubicBezTo>
                  <a:pt x="2084" y="92512"/>
                  <a:pt x="-1607" y="101322"/>
                  <a:pt x="595" y="109657"/>
                </a:cubicBezTo>
                <a:cubicBezTo>
                  <a:pt x="2798" y="117991"/>
                  <a:pt x="10418" y="123825"/>
                  <a:pt x="19050" y="123825"/>
                </a:cubicBezTo>
                <a:lnTo>
                  <a:pt x="38100" y="123825"/>
                </a:lnTo>
                <a:lnTo>
                  <a:pt x="38100" y="247650"/>
                </a:lnTo>
                <a:lnTo>
                  <a:pt x="38100" y="247650"/>
                </a:lnTo>
                <a:lnTo>
                  <a:pt x="7620" y="270510"/>
                </a:lnTo>
                <a:cubicBezTo>
                  <a:pt x="2798" y="274082"/>
                  <a:pt x="0" y="279737"/>
                  <a:pt x="0" y="285750"/>
                </a:cubicBezTo>
                <a:cubicBezTo>
                  <a:pt x="0" y="296287"/>
                  <a:pt x="8513" y="304800"/>
                  <a:pt x="19050" y="304800"/>
                </a:cubicBezTo>
                <a:lnTo>
                  <a:pt x="285750" y="304800"/>
                </a:lnTo>
                <a:cubicBezTo>
                  <a:pt x="296287" y="304800"/>
                  <a:pt x="304800" y="296287"/>
                  <a:pt x="304800" y="285750"/>
                </a:cubicBezTo>
                <a:cubicBezTo>
                  <a:pt x="304800" y="279737"/>
                  <a:pt x="302002" y="274082"/>
                  <a:pt x="297180" y="270510"/>
                </a:cubicBezTo>
                <a:lnTo>
                  <a:pt x="266700" y="247650"/>
                </a:lnTo>
                <a:lnTo>
                  <a:pt x="266700" y="123825"/>
                </a:lnTo>
                <a:lnTo>
                  <a:pt x="285750" y="123825"/>
                </a:lnTo>
                <a:cubicBezTo>
                  <a:pt x="294382" y="123825"/>
                  <a:pt x="301943" y="117991"/>
                  <a:pt x="304145" y="109657"/>
                </a:cubicBezTo>
                <a:cubicBezTo>
                  <a:pt x="306348" y="101322"/>
                  <a:pt x="302657" y="92512"/>
                  <a:pt x="295156" y="88225"/>
                </a:cubicBezTo>
                <a:lnTo>
                  <a:pt x="161806" y="12025"/>
                </a:lnTo>
                <a:close/>
                <a:moveTo>
                  <a:pt x="238125" y="123825"/>
                </a:moveTo>
                <a:lnTo>
                  <a:pt x="238125" y="247650"/>
                </a:lnTo>
                <a:lnTo>
                  <a:pt x="200025" y="247650"/>
                </a:lnTo>
                <a:lnTo>
                  <a:pt x="200025" y="123825"/>
                </a:lnTo>
                <a:lnTo>
                  <a:pt x="238125" y="123825"/>
                </a:lnTo>
                <a:close/>
                <a:moveTo>
                  <a:pt x="171450" y="123825"/>
                </a:moveTo>
                <a:lnTo>
                  <a:pt x="171450" y="247650"/>
                </a:lnTo>
                <a:lnTo>
                  <a:pt x="133350" y="247650"/>
                </a:lnTo>
                <a:lnTo>
                  <a:pt x="133350" y="123825"/>
                </a:lnTo>
                <a:lnTo>
                  <a:pt x="171450" y="123825"/>
                </a:lnTo>
                <a:close/>
                <a:moveTo>
                  <a:pt x="104775" y="123825"/>
                </a:moveTo>
                <a:lnTo>
                  <a:pt x="104775" y="247650"/>
                </a:lnTo>
                <a:lnTo>
                  <a:pt x="66675" y="247650"/>
                </a:lnTo>
                <a:lnTo>
                  <a:pt x="66675" y="123825"/>
                </a:lnTo>
                <a:lnTo>
                  <a:pt x="104775" y="123825"/>
                </a:lnTo>
                <a:close/>
                <a:moveTo>
                  <a:pt x="152400" y="57150"/>
                </a:moveTo>
                <a:cubicBezTo>
                  <a:pt x="162914" y="57150"/>
                  <a:pt x="171450" y="65686"/>
                  <a:pt x="171450" y="76200"/>
                </a:cubicBezTo>
                <a:cubicBezTo>
                  <a:pt x="171450" y="86714"/>
                  <a:pt x="162914" y="95250"/>
                  <a:pt x="152400" y="95250"/>
                </a:cubicBezTo>
                <a:cubicBezTo>
                  <a:pt x="141886" y="95250"/>
                  <a:pt x="133350" y="86714"/>
                  <a:pt x="133350" y="76200"/>
                </a:cubicBezTo>
                <a:cubicBezTo>
                  <a:pt x="133350" y="65686"/>
                  <a:pt x="141886" y="57150"/>
                  <a:pt x="152400" y="571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1422400" y="71120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Lenders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Understand exposure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45000" y="6985000"/>
            <a:ext cx="3429000" cy="1016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2" name="Shape 30"/>
          <p:cNvSpPr/>
          <p:nvPr/>
        </p:nvSpPr>
        <p:spPr>
          <a:xfrm>
            <a:off x="4718050" y="723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147638"/>
                </a:moveTo>
                <a:cubicBezTo>
                  <a:pt x="172777" y="147638"/>
                  <a:pt x="204787" y="115627"/>
                  <a:pt x="204787" y="76200"/>
                </a:cubicBezTo>
                <a:cubicBezTo>
                  <a:pt x="204787" y="36773"/>
                  <a:pt x="172777" y="4763"/>
                  <a:pt x="133350" y="4763"/>
                </a:cubicBezTo>
                <a:cubicBezTo>
                  <a:pt x="93923" y="4763"/>
                  <a:pt x="61913" y="36773"/>
                  <a:pt x="61912" y="76200"/>
                </a:cubicBezTo>
                <a:cubicBezTo>
                  <a:pt x="61912" y="115627"/>
                  <a:pt x="93923" y="147638"/>
                  <a:pt x="133350" y="147638"/>
                </a:cubicBezTo>
                <a:close/>
                <a:moveTo>
                  <a:pt x="115669" y="180975"/>
                </a:moveTo>
                <a:cubicBezTo>
                  <a:pt x="57031" y="180975"/>
                  <a:pt x="9525" y="228481"/>
                  <a:pt x="9525" y="287119"/>
                </a:cubicBezTo>
                <a:cubicBezTo>
                  <a:pt x="9525" y="296882"/>
                  <a:pt x="17443" y="304800"/>
                  <a:pt x="27206" y="304800"/>
                </a:cubicBezTo>
                <a:lnTo>
                  <a:pt x="239494" y="304800"/>
                </a:lnTo>
                <a:cubicBezTo>
                  <a:pt x="249257" y="304800"/>
                  <a:pt x="257175" y="296882"/>
                  <a:pt x="257175" y="287119"/>
                </a:cubicBezTo>
                <a:cubicBezTo>
                  <a:pt x="257175" y="228481"/>
                  <a:pt x="209669" y="180975"/>
                  <a:pt x="151031" y="180975"/>
                </a:cubicBezTo>
                <a:lnTo>
                  <a:pt x="115669" y="1809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5105400" y="71120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Borrowers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Verify fairness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0" y="6985000"/>
            <a:ext cx="3429000" cy="10160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35" name="Shape 33"/>
          <p:cNvSpPr/>
          <p:nvPr/>
        </p:nvSpPr>
        <p:spPr>
          <a:xfrm>
            <a:off x="8382000" y="723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2101" y="3036"/>
                </a:moveTo>
                <a:cubicBezTo>
                  <a:pt x="148352" y="-1012"/>
                  <a:pt x="156448" y="-1012"/>
                  <a:pt x="162699" y="3036"/>
                </a:cubicBezTo>
                <a:lnTo>
                  <a:pt x="296049" y="88761"/>
                </a:lnTo>
                <a:cubicBezTo>
                  <a:pt x="303133" y="93345"/>
                  <a:pt x="306407" y="102037"/>
                  <a:pt x="304026" y="110133"/>
                </a:cubicBezTo>
                <a:cubicBezTo>
                  <a:pt x="301645" y="118229"/>
                  <a:pt x="294203" y="123825"/>
                  <a:pt x="285750" y="123825"/>
                </a:cubicBezTo>
                <a:lnTo>
                  <a:pt x="266700" y="123825"/>
                </a:lnTo>
                <a:lnTo>
                  <a:pt x="266700" y="247650"/>
                </a:lnTo>
                <a:lnTo>
                  <a:pt x="297180" y="270510"/>
                </a:lnTo>
                <a:cubicBezTo>
                  <a:pt x="302002" y="274082"/>
                  <a:pt x="304800" y="279737"/>
                  <a:pt x="304800" y="285750"/>
                </a:cubicBezTo>
                <a:cubicBezTo>
                  <a:pt x="304800" y="296287"/>
                  <a:pt x="296287" y="304800"/>
                  <a:pt x="285750" y="304800"/>
                </a:cubicBezTo>
                <a:lnTo>
                  <a:pt x="19050" y="304800"/>
                </a:lnTo>
                <a:cubicBezTo>
                  <a:pt x="8513" y="304800"/>
                  <a:pt x="0" y="296287"/>
                  <a:pt x="0" y="285750"/>
                </a:cubicBezTo>
                <a:cubicBezTo>
                  <a:pt x="0" y="279737"/>
                  <a:pt x="2798" y="274082"/>
                  <a:pt x="7620" y="270510"/>
                </a:cubicBezTo>
                <a:lnTo>
                  <a:pt x="38100" y="247650"/>
                </a:lnTo>
                <a:lnTo>
                  <a:pt x="38100" y="247650"/>
                </a:lnTo>
                <a:lnTo>
                  <a:pt x="38100" y="123825"/>
                </a:lnTo>
                <a:lnTo>
                  <a:pt x="19050" y="123825"/>
                </a:lnTo>
                <a:cubicBezTo>
                  <a:pt x="10597" y="123825"/>
                  <a:pt x="3155" y="118229"/>
                  <a:pt x="774" y="110133"/>
                </a:cubicBezTo>
                <a:cubicBezTo>
                  <a:pt x="-1607" y="102037"/>
                  <a:pt x="1667" y="93285"/>
                  <a:pt x="8751" y="88761"/>
                </a:cubicBezTo>
                <a:lnTo>
                  <a:pt x="142101" y="3036"/>
                </a:lnTo>
                <a:close/>
                <a:moveTo>
                  <a:pt x="200025" y="123825"/>
                </a:moveTo>
                <a:lnTo>
                  <a:pt x="200025" y="247650"/>
                </a:lnTo>
                <a:lnTo>
                  <a:pt x="238125" y="247650"/>
                </a:lnTo>
                <a:lnTo>
                  <a:pt x="238125" y="123825"/>
                </a:lnTo>
                <a:lnTo>
                  <a:pt x="200025" y="123825"/>
                </a:lnTo>
                <a:close/>
                <a:moveTo>
                  <a:pt x="133350" y="247650"/>
                </a:moveTo>
                <a:lnTo>
                  <a:pt x="171450" y="247650"/>
                </a:lnTo>
                <a:lnTo>
                  <a:pt x="171450" y="123825"/>
                </a:lnTo>
                <a:lnTo>
                  <a:pt x="133350" y="123825"/>
                </a:lnTo>
                <a:lnTo>
                  <a:pt x="133350" y="247650"/>
                </a:lnTo>
                <a:close/>
                <a:moveTo>
                  <a:pt x="66675" y="123825"/>
                </a:moveTo>
                <a:lnTo>
                  <a:pt x="66675" y="247650"/>
                </a:lnTo>
                <a:lnTo>
                  <a:pt x="104775" y="247650"/>
                </a:lnTo>
                <a:lnTo>
                  <a:pt x="104775" y="123825"/>
                </a:lnTo>
                <a:lnTo>
                  <a:pt x="66675" y="12382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8788400" y="7112000"/>
            <a:ext cx="2540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Financial Institutions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Compliance &amp; audit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811000" y="6985000"/>
            <a:ext cx="3683000" cy="10160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38" name="Shape 36"/>
          <p:cNvSpPr/>
          <p:nvPr/>
        </p:nvSpPr>
        <p:spPr>
          <a:xfrm>
            <a:off x="12045950" y="7239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00965" y="91321"/>
                </a:moveTo>
                <a:lnTo>
                  <a:pt x="89833" y="80189"/>
                </a:lnTo>
                <a:cubicBezTo>
                  <a:pt x="82391" y="72747"/>
                  <a:pt x="82391" y="60662"/>
                  <a:pt x="89833" y="53221"/>
                </a:cubicBezTo>
                <a:lnTo>
                  <a:pt x="158115" y="-15121"/>
                </a:lnTo>
                <a:cubicBezTo>
                  <a:pt x="165556" y="-22562"/>
                  <a:pt x="177641" y="-22562"/>
                  <a:pt x="185083" y="-15121"/>
                </a:cubicBezTo>
                <a:lnTo>
                  <a:pt x="196215" y="-3929"/>
                </a:lnTo>
                <a:cubicBezTo>
                  <a:pt x="203656" y="3512"/>
                  <a:pt x="203656" y="15597"/>
                  <a:pt x="196215" y="23039"/>
                </a:cubicBezTo>
                <a:lnTo>
                  <a:pt x="127933" y="91321"/>
                </a:lnTo>
                <a:cubicBezTo>
                  <a:pt x="120491" y="98762"/>
                  <a:pt x="108406" y="98762"/>
                  <a:pt x="100965" y="91321"/>
                </a:cubicBezTo>
                <a:close/>
                <a:moveTo>
                  <a:pt x="164306" y="126028"/>
                </a:moveTo>
                <a:lnTo>
                  <a:pt x="145613" y="107335"/>
                </a:lnTo>
                <a:lnTo>
                  <a:pt x="212288" y="40660"/>
                </a:lnTo>
                <a:lnTo>
                  <a:pt x="283369" y="111740"/>
                </a:lnTo>
                <a:lnTo>
                  <a:pt x="216694" y="178415"/>
                </a:lnTo>
                <a:lnTo>
                  <a:pt x="198001" y="159722"/>
                </a:lnTo>
                <a:lnTo>
                  <a:pt x="59888" y="297835"/>
                </a:lnTo>
                <a:cubicBezTo>
                  <a:pt x="50602" y="307122"/>
                  <a:pt x="35540" y="307122"/>
                  <a:pt x="26194" y="297835"/>
                </a:cubicBezTo>
                <a:cubicBezTo>
                  <a:pt x="16847" y="288548"/>
                  <a:pt x="16907" y="273487"/>
                  <a:pt x="26194" y="264140"/>
                </a:cubicBezTo>
                <a:lnTo>
                  <a:pt x="164306" y="126028"/>
                </a:lnTo>
                <a:close/>
                <a:moveTo>
                  <a:pt x="232708" y="223004"/>
                </a:moveTo>
                <a:cubicBezTo>
                  <a:pt x="225266" y="215563"/>
                  <a:pt x="225266" y="203478"/>
                  <a:pt x="232708" y="196036"/>
                </a:cubicBezTo>
                <a:lnTo>
                  <a:pt x="300990" y="127754"/>
                </a:lnTo>
                <a:cubicBezTo>
                  <a:pt x="308431" y="120313"/>
                  <a:pt x="320516" y="120313"/>
                  <a:pt x="327958" y="127754"/>
                </a:cubicBezTo>
                <a:lnTo>
                  <a:pt x="339090" y="138886"/>
                </a:lnTo>
                <a:cubicBezTo>
                  <a:pt x="346531" y="146328"/>
                  <a:pt x="346531" y="158413"/>
                  <a:pt x="339090" y="165854"/>
                </a:cubicBezTo>
                <a:lnTo>
                  <a:pt x="270808" y="234196"/>
                </a:lnTo>
                <a:cubicBezTo>
                  <a:pt x="263366" y="241637"/>
                  <a:pt x="251281" y="241637"/>
                  <a:pt x="243840" y="234196"/>
                </a:cubicBezTo>
                <a:lnTo>
                  <a:pt x="232708" y="22306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12471400" y="7112000"/>
            <a:ext cx="279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Compliance Teams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Legal professionals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6000" y="6096000"/>
            <a:ext cx="2540000" cy="2540000"/>
          </a:xfrm>
          <a:prstGeom prst="ellipse">
            <a:avLst/>
          </a:prstGeom>
          <a:solidFill>
            <a:srgbClr val="FFFFFF">
              <a:alpha val="2353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2954000" y="5588000"/>
            <a:ext cx="3302000" cy="3302000"/>
          </a:xfrm>
          <a:prstGeom prst="ellipse">
            <a:avLst/>
          </a:prstGeom>
          <a:solidFill>
            <a:srgbClr val="FFFFFF">
              <a:alpha val="2353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3048000" y="2794000"/>
            <a:ext cx="1016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3937000"/>
            <a:ext cx="2540000" cy="50800"/>
          </a:xfrm>
          <a:prstGeom prst="rect">
            <a:avLst/>
          </a:prstGeom>
          <a:solidFill>
            <a:srgbClr val="B45309"/>
          </a:solidFill>
        </p:spPr>
      </p:sp>
      <p:sp>
        <p:nvSpPr>
          <p:cNvPr id="6" name="Text 4"/>
          <p:cNvSpPr/>
          <p:nvPr/>
        </p:nvSpPr>
        <p:spPr>
          <a:xfrm>
            <a:off x="4318000" y="4318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18000" y="5334000"/>
            <a:ext cx="762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3333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[Contact information to be filled by presenter]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11292</Words>
  <Application>WPS Presentation</Application>
  <PresentationFormat>On-screen Show (16:9)</PresentationFormat>
  <Paragraphs>579</Paragraphs>
  <Slides>19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9" baseType="lpstr">
      <vt:lpstr>Arial</vt:lpstr>
      <vt:lpstr>SimSun</vt:lpstr>
      <vt:lpstr>Wingdings</vt:lpstr>
      <vt:lpstr>Arial, sans-serif</vt:lpstr>
      <vt:lpstr>Segoe Print</vt:lpstr>
      <vt:lpstr>Arial, sans-serif</vt:lpstr>
      <vt:lpstr>Arial, sans-serif</vt:lpstr>
      <vt:lpstr>QuattrocentoSans</vt:lpstr>
      <vt:lpstr>QuattrocentoSans</vt:lpstr>
      <vt:lpstr>QuattrocentoSans</vt:lpstr>
      <vt:lpstr>Quattrocento Sans</vt:lpstr>
      <vt:lpstr>Quattrocento Sans</vt:lpstr>
      <vt:lpstr>Quattrocento Sans</vt:lpstr>
      <vt:lpstr>Cambria Math</vt:lpstr>
      <vt:lpstr>Arial</vt:lpstr>
      <vt:lpstr>Calibri</vt:lpstr>
      <vt:lpstr>Microsoft YaHei</vt:lpstr>
      <vt:lpstr>Arial Unicode MS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Fairness Assessment for Loan Agreements</dc:title>
  <dc:creator>Kimi</dc:creator>
  <dc:subject>AI-Based Fairness Assessment for Loan Agreements</dc:subject>
  <cp:lastModifiedBy>sarvesh chandran</cp:lastModifiedBy>
  <cp:revision>2</cp:revision>
  <dcterms:created xsi:type="dcterms:W3CDTF">2026-06-07T15:24:00Z</dcterms:created>
  <dcterms:modified xsi:type="dcterms:W3CDTF">2026-06-12T08:33:51Z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{"Label":"AI-Based Fairness Assessment for Loan Agreements","ContentProducer":"001191110108MACG2KBH8F10000","ProduceID":"19ea27db-a7e2-8015-8000-00007797ed39","ReservedCode1":"","ContentPropagator":"001191110108MACG2KBH8F20000","PropagateID":"19ea27db-a7e2-8015-8000-00007797ed39","ReservedCode2":""}</vt:lpwstr>
  </property>
  <property fmtid="{D5CDD505-2E9C-101B-9397-08002B2CF9AE}" pid="3" name="KSOProductBuildVer">
    <vt:lpwstr>1033-12.1.0.26372</vt:lpwstr>
  </property>
  <property fmtid="{D5CDD505-2E9C-101B-9397-08002B2CF9AE}" pid="4" name="ICV">
    <vt:lpwstr>C05776A6E6154FA4936E9ED6C6582B82_12</vt:lpwstr>
  </property>
</Properties>
</file>