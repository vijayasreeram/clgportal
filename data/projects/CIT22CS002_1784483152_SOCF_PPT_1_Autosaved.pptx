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0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6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50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21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9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30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2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5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3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747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3035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119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92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329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421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8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CDCC7-EF56-4571-9DBF-9CACD38FF609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17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5462-AD8A-295E-4E23-F37D3CAD6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651286"/>
            <a:ext cx="9448800" cy="155542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dirty="0">
                <a:cs typeface="Times New Roman" panose="02020603050405020304" pitchFamily="18" charset="0"/>
              </a:rPr>
              <a:t>Explainable loan agreement intelligence for clause-level risk scoring and fairness assessment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9A628-9B6C-2728-0903-2B64EA8A9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612431"/>
            <a:ext cx="9448800" cy="685800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cs typeface="Times New Roman" panose="02020603050405020304" pitchFamily="18" charset="0"/>
              </a:rPr>
              <a:t>Proposed by : </a:t>
            </a:r>
            <a:r>
              <a:rPr lang="en-IN" sz="2400" dirty="0" err="1">
                <a:cs typeface="Times New Roman" panose="02020603050405020304" pitchFamily="18" charset="0"/>
              </a:rPr>
              <a:t>Akhet</a:t>
            </a:r>
            <a:endParaRPr lang="en-IN" sz="2400" dirty="0"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0427D-894F-6B68-2F0D-13B88C8B4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57948" y="-118381"/>
            <a:ext cx="6277897" cy="336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36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2889-59B9-56D6-0184-30FCD1CC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E627B-D038-88DE-712C-13982468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the presentation within the prescribed slide limit.</a:t>
            </a:r>
          </a:p>
          <a:p>
            <a:r>
              <a:rPr lang="en-US" b="1" dirty="0"/>
              <a:t>Allowed Font- Century Gothic, Times New Roman, Arial</a:t>
            </a:r>
          </a:p>
          <a:p>
            <a:r>
              <a:rPr lang="en-US" b="1" dirty="0"/>
              <a:t>Line spacing- 1.5, Font Color- White</a:t>
            </a:r>
            <a:endParaRPr lang="en-US" dirty="0"/>
          </a:p>
          <a:p>
            <a:r>
              <a:rPr lang="en-US" dirty="0"/>
              <a:t>Use concise text, visuals, and diagrams wherever appropriate.</a:t>
            </a:r>
          </a:p>
          <a:p>
            <a:r>
              <a:rPr lang="en-US" dirty="0"/>
              <a:t>Clearly explain the problem, proposed solution, feasibility, and expected impact.</a:t>
            </a:r>
          </a:p>
          <a:p>
            <a:r>
              <a:rPr lang="en-US" dirty="0"/>
              <a:t>Be realistic about challenges, risks, and implementation constraints.</a:t>
            </a:r>
          </a:p>
          <a:p>
            <a:r>
              <a:rPr lang="en-US" dirty="0"/>
              <a:t>Additional slides may be added only if essential to explain the idea.</a:t>
            </a:r>
          </a:p>
          <a:p>
            <a:r>
              <a:rPr lang="en-US" dirty="0"/>
              <a:t>Ensure all content is original and properly credited where external references are used.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155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F273-DA9D-33FC-A110-B6AB3712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0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Proposed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C2D61-4709-CADB-2F5E-A28477915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10" y="946485"/>
            <a:ext cx="11726779" cy="55986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Problem Statement</a:t>
            </a:r>
          </a:p>
          <a:p>
            <a:pPr algn="just"/>
            <a:r>
              <a:rPr lang="en-IN" dirty="0"/>
              <a:t>Modern loan agreements are lengthy, legally complex, and often difficult for borrowers to understand. Existing AI-powered contract analysis tools focus on extracting clauses or identifying legal risks but fail to evaluate whether the agreement is actually fair to both the lender and borrower.</a:t>
            </a:r>
          </a:p>
          <a:p>
            <a:pPr algn="just"/>
            <a:r>
              <a:rPr lang="en-IN" dirty="0"/>
              <a:t>This creates situations where a contract may be legally valid but heavily biased toward one party.</a:t>
            </a:r>
          </a:p>
          <a:p>
            <a:pPr marL="0" indent="0">
              <a:buNone/>
            </a:pPr>
            <a:r>
              <a:rPr lang="en-IN" b="1" dirty="0"/>
              <a:t>Our Solution</a:t>
            </a:r>
          </a:p>
          <a:p>
            <a:r>
              <a:rPr lang="en-IN" dirty="0"/>
              <a:t>We propose an AI-powered contract intelligence platform that automatically analyses loan agreements and evaluates their fairness.</a:t>
            </a:r>
          </a:p>
          <a:p>
            <a:r>
              <a:rPr lang="en-IN" dirty="0"/>
              <a:t>Instead of simply detecting risky clauses, our system independently measures:</a:t>
            </a:r>
          </a:p>
          <a:p>
            <a:r>
              <a:rPr lang="en-IN" dirty="0"/>
              <a:t>Lender Risk </a:t>
            </a:r>
          </a:p>
          <a:p>
            <a:r>
              <a:rPr lang="en-IN" dirty="0"/>
              <a:t>Borrower Risk </a:t>
            </a:r>
          </a:p>
          <a:p>
            <a:r>
              <a:rPr lang="en-IN" dirty="0"/>
              <a:t>The platform then compares both scores to determine whether the agreement is:</a:t>
            </a:r>
          </a:p>
          <a:p>
            <a:r>
              <a:rPr lang="en-IN" dirty="0"/>
              <a:t>Balanced </a:t>
            </a:r>
          </a:p>
          <a:p>
            <a:r>
              <a:rPr lang="en-IN" dirty="0"/>
              <a:t>Lender-Favourable </a:t>
            </a:r>
          </a:p>
          <a:p>
            <a:r>
              <a:rPr lang="en-IN" dirty="0"/>
              <a:t>Borrower-Favourable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05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4D1CA-09EA-6081-6FDC-8119DB12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8CDF-194F-1B0A-2B88-D454258E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Technical Strategy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58761C-9FBA-9FB0-EA2A-FF68D2D509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328053"/>
              </p:ext>
            </p:extLst>
          </p:nvPr>
        </p:nvGraphicFramePr>
        <p:xfrm>
          <a:off x="685800" y="2193925"/>
          <a:ext cx="108204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207679736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532325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638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872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HTML, CSS, Bootstrap, 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013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434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AI/NLP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spaCy</a:t>
                      </a:r>
                      <a:r>
                        <a:rPr lang="en-IN" dirty="0"/>
                        <a:t>, Transformers, Rule-Based NLP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65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Document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PyMuPDF</a:t>
                      </a:r>
                      <a:r>
                        <a:rPr lang="en-IN" dirty="0"/>
                        <a:t> / </a:t>
                      </a:r>
                      <a:r>
                        <a:rPr lang="en-IN" dirty="0" err="1"/>
                        <a:t>PDFPlumber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230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541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Plotly</a:t>
                      </a:r>
                      <a:r>
                        <a:rPr lang="en-IN" dirty="0"/>
                        <a:t> / Chart.js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7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SHAP / Rule Explanation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540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Flask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21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451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8C9C-AD10-5F62-CBB2-54F86662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03CE-BBAF-55A9-4F87-BF7D00021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Technical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0536-D5DE-15FF-CCA0-1ADA737A5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36633"/>
            <a:ext cx="10820400" cy="4540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500" b="1" dirty="0"/>
              <a:t>Why These Technologies?</a:t>
            </a:r>
          </a:p>
          <a:p>
            <a:r>
              <a:rPr lang="en-IN" sz="3500" dirty="0"/>
              <a:t>Fast document processing </a:t>
            </a:r>
          </a:p>
          <a:p>
            <a:r>
              <a:rPr lang="en-IN" sz="3500" dirty="0"/>
              <a:t>Lightweight deployment </a:t>
            </a:r>
          </a:p>
          <a:p>
            <a:r>
              <a:rPr lang="en-IN" sz="3500" dirty="0"/>
              <a:t>Easy scalability </a:t>
            </a:r>
          </a:p>
          <a:p>
            <a:r>
              <a:rPr lang="en-IN" sz="3500" dirty="0"/>
              <a:t>Transparent AI </a:t>
            </a:r>
          </a:p>
          <a:p>
            <a:r>
              <a:rPr lang="en-IN" sz="3500" dirty="0"/>
              <a:t>Explainable decision making</a:t>
            </a:r>
          </a:p>
          <a:p>
            <a:r>
              <a:rPr lang="en-IN" sz="3500" dirty="0"/>
              <a:t>Dual-Risk evaluation analysis</a:t>
            </a:r>
          </a:p>
          <a:p>
            <a:pPr marL="0" indent="0" algn="ctr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08193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A3FD-6D6B-02CE-6816-929A2EEA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A788-F340-4DF9-7264-A9C312EA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181147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Technical Strategy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1A1D4E-CE3B-8E1A-31A1-30B730F50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864" y="733246"/>
            <a:ext cx="5158596" cy="612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E4D19-A5E8-1B5D-27B3-5D29FC35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E899-B16F-047E-B26B-AD2FF530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Feasibility and viability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C69F-2D25-A3B3-A7AA-A1EADF0BA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Feasibility Analysis</a:t>
            </a:r>
          </a:p>
          <a:p>
            <a:r>
              <a:rPr lang="en-IN" dirty="0"/>
              <a:t>Our solution is practical because it leverages open-source AI libraries and lightweight web technologies.</a:t>
            </a:r>
          </a:p>
          <a:p>
            <a:pPr marL="0" indent="0">
              <a:buNone/>
            </a:pPr>
            <a:r>
              <a:rPr lang="en-IN" b="1" dirty="0"/>
              <a:t>Resources Required</a:t>
            </a:r>
          </a:p>
          <a:p>
            <a:r>
              <a:rPr lang="en-IN" dirty="0"/>
              <a:t>Standard Computer </a:t>
            </a:r>
          </a:p>
          <a:p>
            <a:r>
              <a:rPr lang="en-IN" dirty="0"/>
              <a:t>Python Environment </a:t>
            </a:r>
          </a:p>
          <a:p>
            <a:r>
              <a:rPr lang="en-IN" dirty="0"/>
              <a:t>Flask Server </a:t>
            </a:r>
          </a:p>
          <a:p>
            <a:r>
              <a:rPr lang="en-IN" dirty="0"/>
              <a:t>NLP Libraries </a:t>
            </a:r>
          </a:p>
          <a:p>
            <a:r>
              <a:rPr lang="en-IN" dirty="0"/>
              <a:t>PDF Processing Libraries </a:t>
            </a:r>
          </a:p>
          <a:p>
            <a:r>
              <a:rPr lang="en-IN" dirty="0"/>
              <a:t>No expensive hardware or cloud infrastructure is required for deployment.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0663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BE7C-4895-9E0B-AA5E-DF6D8949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A1E7-0468-BDEF-9A43-15184A83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Feasibility and viability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A2E3C-73DA-62B5-37F4-6C65CDED0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Why Practical?</a:t>
            </a:r>
          </a:p>
          <a:p>
            <a:r>
              <a:rPr lang="en-IN" dirty="0"/>
              <a:t>Low development cost </a:t>
            </a:r>
          </a:p>
          <a:p>
            <a:r>
              <a:rPr lang="en-IN" dirty="0"/>
              <a:t>Easily deployable </a:t>
            </a:r>
          </a:p>
          <a:p>
            <a:r>
              <a:rPr lang="en-IN" dirty="0"/>
              <a:t>Minimal maintenance </a:t>
            </a:r>
          </a:p>
          <a:p>
            <a:r>
              <a:rPr lang="en-IN" dirty="0"/>
              <a:t>Can process contracts within seconds </a:t>
            </a:r>
          </a:p>
          <a:p>
            <a:r>
              <a:rPr lang="en-IN" dirty="0"/>
              <a:t>Suitable for banks, fintechs, and legal firms</a:t>
            </a:r>
          </a:p>
          <a:p>
            <a:r>
              <a:rPr lang="en-IN" dirty="0"/>
              <a:t>Validates on the basis borrower and lender</a:t>
            </a:r>
          </a:p>
          <a:p>
            <a:r>
              <a:rPr lang="en-IN" dirty="0"/>
              <a:t>Justifies &amp; corrects the selected clauses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47876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9D70-B828-3301-F125-244040BF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DDA5-4D5C-9E5F-C174-8803BE1A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Impact and benefits envisaged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5D315-595D-18A2-50E4-F78C2CFD1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71550"/>
            <a:ext cx="10672482" cy="11172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Expected Impact</a:t>
            </a:r>
          </a:p>
          <a:p>
            <a:r>
              <a:rPr lang="en-IN" dirty="0"/>
              <a:t>The platform enables transparent, explainable, and fair evaluation of loan agreements.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8D9E6-C4BB-AC6D-20D2-67333FFF7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40657"/>
            <a:ext cx="10672482" cy="48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2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1D9F0-CE9B-E855-AD24-313228AF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6A1F-0B1A-433F-65D9-E876245B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ctr"/>
            <a:r>
              <a:rPr lang="en-US" b="1" dirty="0"/>
              <a:t>Why this idea may fail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3E445-AA17-45AC-49AE-70F5C7A9A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5405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Challenges</a:t>
            </a:r>
          </a:p>
          <a:p>
            <a:r>
              <a:rPr lang="en-IN" dirty="0"/>
              <a:t>Different countries have different legal standards. </a:t>
            </a:r>
          </a:p>
          <a:p>
            <a:r>
              <a:rPr lang="en-IN" dirty="0"/>
              <a:t>AI may misinterpret highly complex legal language. </a:t>
            </a:r>
          </a:p>
          <a:p>
            <a:r>
              <a:rPr lang="en-IN" dirty="0"/>
              <a:t>Limited availability of annotated legal datasets. </a:t>
            </a:r>
          </a:p>
          <a:p>
            <a:r>
              <a:rPr lang="en-IN" dirty="0"/>
              <a:t>Organizations may hesitate to trust automated recommendations. </a:t>
            </a:r>
          </a:p>
          <a:p>
            <a:r>
              <a:rPr lang="en-IN" dirty="0"/>
              <a:t>Continuous regulatory changes require frequent updates.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Future Improvements</a:t>
            </a:r>
          </a:p>
          <a:p>
            <a:r>
              <a:rPr lang="en-IN" dirty="0"/>
              <a:t>Development of AI Agents to work on each process</a:t>
            </a:r>
          </a:p>
          <a:p>
            <a:r>
              <a:rPr lang="en-IN" dirty="0"/>
              <a:t>Multi-Lingual &amp; Multi-Document Analysis support </a:t>
            </a:r>
          </a:p>
          <a:p>
            <a:r>
              <a:rPr lang="en-IN" dirty="0"/>
              <a:t>Live legal database integration </a:t>
            </a:r>
          </a:p>
          <a:p>
            <a:r>
              <a:rPr lang="en-IN" dirty="0"/>
              <a:t>Blockchain-based document verification </a:t>
            </a:r>
          </a:p>
          <a:p>
            <a:r>
              <a:rPr lang="en-IN" dirty="0"/>
              <a:t>Learns on the basis of regulatory clauses</a:t>
            </a:r>
          </a:p>
        </p:txBody>
      </p:sp>
    </p:spTree>
    <p:extLst>
      <p:ext uri="{BB962C8B-B14F-4D97-AF65-F5344CB8AC3E}">
        <p14:creationId xmlns:p14="http://schemas.microsoft.com/office/powerpoint/2010/main" val="6773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7F83-A7C7-DD32-E5E5-57ADD7B9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88A2-1EBD-2CBD-1CAB-6C89A586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820400" cy="1293028"/>
          </a:xfrm>
        </p:spPr>
        <p:txBody>
          <a:bodyPr/>
          <a:lstStyle/>
          <a:p>
            <a:pPr algn="ctr"/>
            <a:r>
              <a:rPr lang="en-IN" b="1" dirty="0"/>
              <a:t>REFERENCES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F9232-F55B-18C9-691C-4F3DBF782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27848"/>
            <a:ext cx="10820400" cy="5786717"/>
          </a:xfrm>
        </p:spPr>
        <p:txBody>
          <a:bodyPr>
            <a:normAutofit/>
          </a:bodyPr>
          <a:lstStyle/>
          <a:p>
            <a:r>
              <a:rPr lang="en-IN" sz="1900" dirty="0"/>
              <a:t>T. </a:t>
            </a:r>
            <a:r>
              <a:rPr lang="en-IN" sz="1900" dirty="0" err="1"/>
              <a:t>vidler</a:t>
            </a:r>
            <a:r>
              <a:rPr lang="en-IN" sz="1900" dirty="0"/>
              <a:t>, K. </a:t>
            </a:r>
            <a:r>
              <a:rPr lang="en-IN" sz="1900" dirty="0" err="1"/>
              <a:t>MCGarry</a:t>
            </a:r>
            <a:r>
              <a:rPr lang="en-IN" sz="1900" dirty="0"/>
              <a:t>, and D. </a:t>
            </a:r>
            <a:r>
              <a:rPr lang="en-IN" sz="1900" dirty="0" err="1"/>
              <a:t>Baglee</a:t>
            </a:r>
            <a:r>
              <a:rPr lang="en-IN" sz="1900" dirty="0"/>
              <a:t>, "Text mining legal documents for clause extraction," in proceedings </a:t>
            </a:r>
            <a:r>
              <a:rPr lang="en-IN" sz="1900" dirty="0" err="1"/>
              <a:t>ofthe</a:t>
            </a:r>
            <a:r>
              <a:rPr lang="en-IN" sz="1900" dirty="0"/>
              <a:t> 19th International conference on Data science (ICDATA'23), 2023</a:t>
            </a:r>
          </a:p>
          <a:p>
            <a:r>
              <a:rPr lang="en-IN" sz="1900" dirty="0"/>
              <a:t>I. Dikmen, G. Eken, H. Erol, and M. T. </a:t>
            </a:r>
            <a:r>
              <a:rPr lang="en-IN" sz="1900" dirty="0" err="1"/>
              <a:t>Birgonul</a:t>
            </a:r>
            <a:r>
              <a:rPr lang="en-IN" sz="1900" dirty="0"/>
              <a:t>, "Automated construction contract analysis for risk and responsibility assessment using natural language processing and machine learning," computers in Industry, vol· 166, p. 104251 , 2025.</a:t>
            </a:r>
          </a:p>
          <a:p>
            <a:r>
              <a:rPr lang="en-IN" sz="1900" dirty="0"/>
              <a:t>M. K. </a:t>
            </a:r>
            <a:r>
              <a:rPr lang="en-IN" sz="1900" dirty="0" err="1"/>
              <a:t>Nallakaruppan</a:t>
            </a:r>
            <a:r>
              <a:rPr lang="en-IN" sz="1900" dirty="0"/>
              <a:t>, B. Balusamy, V. Grover, and S. Bhattacharyya, "An explainable AI framework for credit evaluation and analysis," Applied soft computing, vol. 151 , p. 111307, 2024</a:t>
            </a:r>
          </a:p>
          <a:p>
            <a:r>
              <a:rPr lang="en-IN" sz="1900" dirty="0"/>
              <a:t>R. </a:t>
            </a:r>
            <a:r>
              <a:rPr lang="en-IN" sz="1900" dirty="0" err="1"/>
              <a:t>Bahlool</a:t>
            </a:r>
            <a:r>
              <a:rPr lang="en-IN" sz="1900" dirty="0"/>
              <a:t>, N. </a:t>
            </a:r>
            <a:r>
              <a:rPr lang="en-IN" sz="1900" dirty="0" err="1"/>
              <a:t>Hewahi</a:t>
            </a:r>
            <a:r>
              <a:rPr lang="en-IN" sz="1900" dirty="0"/>
              <a:t>, and W. </a:t>
            </a:r>
            <a:r>
              <a:rPr lang="en-IN" sz="1900" dirty="0" err="1"/>
              <a:t>Elmedany</a:t>
            </a:r>
            <a:r>
              <a:rPr lang="en-IN" sz="1900" dirty="0"/>
              <a:t>, "performance, fairness, and explainability in AI-based credit scoring: A Systematic literature review," Journal </a:t>
            </a:r>
            <a:r>
              <a:rPr lang="en-IN" sz="1900" dirty="0" err="1"/>
              <a:t>ofRisk</a:t>
            </a:r>
            <a:r>
              <a:rPr lang="en-IN" sz="1900" dirty="0"/>
              <a:t> and Financial Management, vol· 19, no. 2, p. 104, 2026.</a:t>
            </a:r>
          </a:p>
          <a:p>
            <a:r>
              <a:rPr lang="en-IN" sz="1900" dirty="0"/>
              <a:t>M. </a:t>
            </a:r>
            <a:r>
              <a:rPr lang="en-IN" sz="1900" dirty="0" err="1"/>
              <a:t>Rizinski</a:t>
            </a:r>
            <a:r>
              <a:rPr lang="en-IN" sz="1900" dirty="0"/>
              <a:t> and D. </a:t>
            </a:r>
            <a:r>
              <a:rPr lang="en-IN" sz="1900" dirty="0" err="1"/>
              <a:t>Trajanov</a:t>
            </a:r>
            <a:r>
              <a:rPr lang="en-IN" sz="1900" dirty="0"/>
              <a:t>, "AI agents in finance and fintech: A Scientific review of agent-based systems, applications, and future horizons," computers, Materials &amp; continua, vol· 86, no. 1 , pp. l-34, 2026</a:t>
            </a:r>
          </a:p>
          <a:p>
            <a:r>
              <a:rPr lang="en-IN" sz="2000" dirty="0"/>
              <a:t>J. Devlin, M. chang, K. Lee, and K. Toutanova, "BERT: pre-training of deep bidirectional transformers for language understanding," in NAACL, 2019 .</a:t>
            </a:r>
          </a:p>
          <a:p>
            <a:r>
              <a:rPr lang="en-IN" sz="2000" dirty="0"/>
              <a:t>T. Brown et al·, "Language models are few-shot learners," </a:t>
            </a:r>
            <a:r>
              <a:rPr lang="en-IN" sz="2000" dirty="0" err="1"/>
              <a:t>inNeurIPS</a:t>
            </a:r>
            <a:r>
              <a:rPr lang="en-IN" sz="2000" dirty="0"/>
              <a:t>, 2020.</a:t>
            </a:r>
            <a:endParaRPr lang="en-US" sz="1900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6193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5681-8DC1-3482-1406-1FD8D5A23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333085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E553F-5030-26D9-CE2C-01A3DE362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61851"/>
            <a:ext cx="9448800" cy="685800"/>
          </a:xfrm>
        </p:spPr>
        <p:txBody>
          <a:bodyPr/>
          <a:lstStyle/>
          <a:p>
            <a:pPr algn="ctr"/>
            <a:r>
              <a:rPr lang="en-IN" dirty="0"/>
              <a:t>Sponsored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4A6D5-B7AA-A95C-4AF9-7C05E711A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6" y="3703076"/>
            <a:ext cx="10353368" cy="90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8773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147</TotalTime>
  <Words>757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Times New Roman</vt:lpstr>
      <vt:lpstr>Vapor Trail</vt:lpstr>
      <vt:lpstr>Explainable loan agreement intelligence for clause-level risk scoring and fairness assessment </vt:lpstr>
      <vt:lpstr>Instructions</vt:lpstr>
      <vt:lpstr>Proposed Solution</vt:lpstr>
      <vt:lpstr>Technical Strategy</vt:lpstr>
      <vt:lpstr>Technical Strategy</vt:lpstr>
      <vt:lpstr>Technical Strategy</vt:lpstr>
      <vt:lpstr>Feasibility and viability</vt:lpstr>
      <vt:lpstr>Feasibility and viability</vt:lpstr>
      <vt:lpstr>Impact and benefits envisaged</vt:lpstr>
      <vt:lpstr>Why this idea may fail ?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Joydeep Samanta</dc:creator>
  <cp:lastModifiedBy>Vijaya sreeram muthu</cp:lastModifiedBy>
  <cp:revision>3</cp:revision>
  <dcterms:created xsi:type="dcterms:W3CDTF">2026-06-19T13:23:03Z</dcterms:created>
  <dcterms:modified xsi:type="dcterms:W3CDTF">2026-07-17T12:10:37Z</dcterms:modified>
</cp:coreProperties>
</file>